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IBM Plex Sans Condensed Bold" charset="1" panose="020B0806050203000203"/>
      <p:regular r:id="rId27"/>
    </p:embeddedFont>
    <p:embeddedFont>
      <p:font typeface="IBM Plex Sans Condensed" charset="1" panose="020B0506050203000203"/>
      <p:regular r:id="rId28"/>
    </p:embeddedFont>
    <p:embeddedFont>
      <p:font typeface="IBM Plex Sans" charset="1" panose="020B0503050203000203"/>
      <p:regular r:id="rId29"/>
    </p:embeddedFont>
    <p:embeddedFont>
      <p:font typeface="IBM Plex Sans Bold" charset="1" panose="020B0803050203000203"/>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1.png" Type="http://schemas.openxmlformats.org/officeDocument/2006/relationships/image"/><Relationship Id="rId9" Target="../media/image1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21.png" Type="http://schemas.openxmlformats.org/officeDocument/2006/relationships/image"/><Relationship Id="rId7" Target="../media/image2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4.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5143500"/>
            <a:ext cx="8477852" cy="5657039"/>
          </a:xfrm>
          <a:custGeom>
            <a:avLst/>
            <a:gdLst/>
            <a:ahLst/>
            <a:cxnLst/>
            <a:rect r="r" b="b" t="t" l="l"/>
            <a:pathLst>
              <a:path h="5657039" w="8477852">
                <a:moveTo>
                  <a:pt x="8477852" y="5657039"/>
                </a:moveTo>
                <a:lnTo>
                  <a:pt x="0" y="5657039"/>
                </a:lnTo>
                <a:lnTo>
                  <a:pt x="0" y="0"/>
                </a:lnTo>
                <a:lnTo>
                  <a:pt x="8477852" y="0"/>
                </a:lnTo>
                <a:lnTo>
                  <a:pt x="8477852" y="565703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9050" y="0"/>
            <a:ext cx="2403281" cy="1961951"/>
          </a:xfrm>
          <a:custGeom>
            <a:avLst/>
            <a:gdLst/>
            <a:ahLst/>
            <a:cxnLst/>
            <a:rect r="r" b="b" t="t" l="l"/>
            <a:pathLst>
              <a:path h="1961951" w="2403281">
                <a:moveTo>
                  <a:pt x="2403281" y="0"/>
                </a:moveTo>
                <a:lnTo>
                  <a:pt x="0" y="0"/>
                </a:lnTo>
                <a:lnTo>
                  <a:pt x="0" y="1961951"/>
                </a:lnTo>
                <a:lnTo>
                  <a:pt x="2403281" y="1961951"/>
                </a:lnTo>
                <a:lnTo>
                  <a:pt x="240328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19050" y="0"/>
            <a:ext cx="2145705" cy="1751676"/>
          </a:xfrm>
          <a:custGeom>
            <a:avLst/>
            <a:gdLst/>
            <a:ahLst/>
            <a:cxnLst/>
            <a:rect r="r" b="b" t="t" l="l"/>
            <a:pathLst>
              <a:path h="1751676" w="2145705">
                <a:moveTo>
                  <a:pt x="2145705" y="0"/>
                </a:moveTo>
                <a:lnTo>
                  <a:pt x="0" y="0"/>
                </a:lnTo>
                <a:lnTo>
                  <a:pt x="0" y="1751676"/>
                </a:lnTo>
                <a:lnTo>
                  <a:pt x="2145705" y="1751676"/>
                </a:lnTo>
                <a:lnTo>
                  <a:pt x="214570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9144000" y="1304925"/>
            <a:ext cx="8115300" cy="2817243"/>
          </a:xfrm>
          <a:prstGeom prst="rect">
            <a:avLst/>
          </a:prstGeom>
        </p:spPr>
        <p:txBody>
          <a:bodyPr anchor="t" rtlCol="false" tIns="0" lIns="0" bIns="0" rIns="0">
            <a:spAutoFit/>
          </a:bodyPr>
          <a:lstStyle/>
          <a:p>
            <a:pPr algn="r">
              <a:lnSpc>
                <a:spcPts val="10792"/>
              </a:lnSpc>
            </a:pPr>
            <a:r>
              <a:rPr lang="en-US" b="true" sz="11360">
                <a:solidFill>
                  <a:srgbClr val="1B1A17"/>
                </a:solidFill>
                <a:latin typeface="IBM Plex Sans Condensed Bold"/>
                <a:ea typeface="IBM Plex Sans Condensed Bold"/>
                <a:cs typeface="IBM Plex Sans Condensed Bold"/>
                <a:sym typeface="IBM Plex Sans Condensed Bold"/>
              </a:rPr>
              <a:t>MACHINE</a:t>
            </a:r>
          </a:p>
          <a:p>
            <a:pPr algn="r">
              <a:lnSpc>
                <a:spcPts val="10792"/>
              </a:lnSpc>
            </a:pPr>
            <a:r>
              <a:rPr lang="en-US" b="true" sz="11360">
                <a:solidFill>
                  <a:srgbClr val="1B1A17"/>
                </a:solidFill>
                <a:latin typeface="IBM Plex Sans Condensed Bold"/>
                <a:ea typeface="IBM Plex Sans Condensed Bold"/>
                <a:cs typeface="IBM Plex Sans Condensed Bold"/>
                <a:sym typeface="IBM Plex Sans Condensed Bold"/>
              </a:rPr>
              <a:t>LEARNING</a:t>
            </a:r>
          </a:p>
        </p:txBody>
      </p:sp>
      <p:sp>
        <p:nvSpPr>
          <p:cNvPr name="TextBox 6" id="6"/>
          <p:cNvSpPr txBox="true"/>
          <p:nvPr/>
        </p:nvSpPr>
        <p:spPr>
          <a:xfrm rot="0">
            <a:off x="7735648" y="4479667"/>
            <a:ext cx="9523652" cy="1835150"/>
          </a:xfrm>
          <a:prstGeom prst="rect">
            <a:avLst/>
          </a:prstGeom>
        </p:spPr>
        <p:txBody>
          <a:bodyPr anchor="t" rtlCol="false" tIns="0" lIns="0" bIns="0" rIns="0">
            <a:spAutoFit/>
          </a:bodyPr>
          <a:lstStyle/>
          <a:p>
            <a:pPr algn="r">
              <a:lnSpc>
                <a:spcPts val="4750"/>
              </a:lnSpc>
            </a:pPr>
            <a:r>
              <a:rPr lang="en-US" sz="5000">
                <a:solidFill>
                  <a:srgbClr val="1B1A17"/>
                </a:solidFill>
                <a:latin typeface="IBM Plex Sans Condensed"/>
                <a:ea typeface="IBM Plex Sans Condensed"/>
                <a:cs typeface="IBM Plex Sans Condensed"/>
                <a:sym typeface="IBM Plex Sans Condensed"/>
              </a:rPr>
              <a:t>DỰ ĐOÁN NHÂN VIÊN NGHỈ VIỆC (RANDOM FOREST, KNN)</a:t>
            </a:r>
          </a:p>
          <a:p>
            <a:pPr algn="r">
              <a:lnSpc>
                <a:spcPts val="4750"/>
              </a:lnSpc>
            </a:pPr>
          </a:p>
        </p:txBody>
      </p:sp>
      <p:sp>
        <p:nvSpPr>
          <p:cNvPr name="TextBox 7" id="7"/>
          <p:cNvSpPr txBox="true"/>
          <p:nvPr/>
        </p:nvSpPr>
        <p:spPr>
          <a:xfrm rot="0">
            <a:off x="4888329" y="6280756"/>
            <a:ext cx="12370971" cy="1835150"/>
          </a:xfrm>
          <a:prstGeom prst="rect">
            <a:avLst/>
          </a:prstGeom>
        </p:spPr>
        <p:txBody>
          <a:bodyPr anchor="t" rtlCol="false" tIns="0" lIns="0" bIns="0" rIns="0">
            <a:spAutoFit/>
          </a:bodyPr>
          <a:lstStyle/>
          <a:p>
            <a:pPr algn="r">
              <a:lnSpc>
                <a:spcPts val="4750"/>
              </a:lnSpc>
            </a:pPr>
            <a:r>
              <a:rPr lang="en-US" sz="5000">
                <a:solidFill>
                  <a:srgbClr val="1B1A17"/>
                </a:solidFill>
                <a:latin typeface="IBM Plex Sans Condensed"/>
                <a:ea typeface="IBM Plex Sans Condensed"/>
                <a:cs typeface="IBM Plex Sans Condensed"/>
                <a:sym typeface="IBM Plex Sans Condensed"/>
              </a:rPr>
              <a:t>Sinh viên thực hiện: Trần Phạm Quang Minh</a:t>
            </a:r>
          </a:p>
          <a:p>
            <a:pPr algn="r">
              <a:lnSpc>
                <a:spcPts val="4750"/>
              </a:lnSpc>
            </a:pPr>
            <a:r>
              <a:rPr lang="en-US" sz="5000">
                <a:solidFill>
                  <a:srgbClr val="1B1A17"/>
                </a:solidFill>
                <a:latin typeface="IBM Plex Sans Condensed"/>
                <a:ea typeface="IBM Plex Sans Condensed"/>
                <a:cs typeface="IBM Plex Sans Condensed"/>
                <a:sym typeface="IBM Plex Sans Condensed"/>
              </a:rPr>
              <a:t>Mã sinh viên: 10123227</a:t>
            </a:r>
          </a:p>
          <a:p>
            <a:pPr algn="r">
              <a:lnSpc>
                <a:spcPts val="4750"/>
              </a:lnSpc>
            </a:pPr>
            <a:r>
              <a:rPr lang="en-US" sz="5000">
                <a:solidFill>
                  <a:srgbClr val="1B1A17"/>
                </a:solidFill>
                <a:latin typeface="IBM Plex Sans Condensed"/>
                <a:ea typeface="IBM Plex Sans Condensed"/>
                <a:cs typeface="IBM Plex Sans Condensed"/>
                <a:sym typeface="IBM Plex Sans Condensed"/>
              </a:rPr>
              <a:t>Giảng viên hướng dẫn: PGS. TS Nguyễn Văn Hậu</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1393518"/>
            <a:ext cx="6545714" cy="4367776"/>
          </a:xfrm>
          <a:custGeom>
            <a:avLst/>
            <a:gdLst/>
            <a:ahLst/>
            <a:cxnLst/>
            <a:rect r="r" b="b" t="t" l="l"/>
            <a:pathLst>
              <a:path h="4367776" w="6545714">
                <a:moveTo>
                  <a:pt x="6545714" y="0"/>
                </a:moveTo>
                <a:lnTo>
                  <a:pt x="0" y="0"/>
                </a:lnTo>
                <a:lnTo>
                  <a:pt x="0" y="4367777"/>
                </a:lnTo>
                <a:lnTo>
                  <a:pt x="6545714" y="4367777"/>
                </a:lnTo>
                <a:lnTo>
                  <a:pt x="654571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15884719" y="8325049"/>
            <a:ext cx="2403281" cy="1961951"/>
          </a:xfrm>
          <a:custGeom>
            <a:avLst/>
            <a:gdLst/>
            <a:ahLst/>
            <a:cxnLst/>
            <a:rect r="r" b="b" t="t" l="l"/>
            <a:pathLst>
              <a:path h="1961951" w="2403281">
                <a:moveTo>
                  <a:pt x="0" y="1961951"/>
                </a:moveTo>
                <a:lnTo>
                  <a:pt x="2403281" y="1961951"/>
                </a:lnTo>
                <a:lnTo>
                  <a:pt x="2403281" y="0"/>
                </a:lnTo>
                <a:lnTo>
                  <a:pt x="0" y="0"/>
                </a:lnTo>
                <a:lnTo>
                  <a:pt x="0" y="1961951"/>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0">
            <a:off x="16142295" y="8535324"/>
            <a:ext cx="2145705" cy="1751676"/>
          </a:xfrm>
          <a:custGeom>
            <a:avLst/>
            <a:gdLst/>
            <a:ahLst/>
            <a:cxnLst/>
            <a:rect r="r" b="b" t="t" l="l"/>
            <a:pathLst>
              <a:path h="1751676" w="2145705">
                <a:moveTo>
                  <a:pt x="0" y="1751676"/>
                </a:moveTo>
                <a:lnTo>
                  <a:pt x="2145705" y="1751676"/>
                </a:lnTo>
                <a:lnTo>
                  <a:pt x="2145705" y="0"/>
                </a:lnTo>
                <a:lnTo>
                  <a:pt x="0" y="0"/>
                </a:lnTo>
                <a:lnTo>
                  <a:pt x="0" y="175167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768461" y="971346"/>
            <a:ext cx="10279125" cy="1035051"/>
          </a:xfrm>
          <a:prstGeom prst="rect">
            <a:avLst/>
          </a:prstGeom>
        </p:spPr>
        <p:txBody>
          <a:bodyPr anchor="t" rtlCol="false" tIns="0" lIns="0" bIns="0" rIns="0">
            <a:spAutoFit/>
          </a:bodyPr>
          <a:lstStyle/>
          <a:p>
            <a:pPr algn="l">
              <a:lnSpc>
                <a:spcPts val="7600"/>
              </a:lnSpc>
            </a:pPr>
            <a:r>
              <a:rPr lang="en-US" sz="8000" b="true">
                <a:solidFill>
                  <a:srgbClr val="1B1A17"/>
                </a:solidFill>
                <a:latin typeface="IBM Plex Sans Condensed Bold"/>
                <a:ea typeface="IBM Plex Sans Condensed Bold"/>
                <a:cs typeface="IBM Plex Sans Condensed Bold"/>
                <a:sym typeface="IBM Plex Sans Condensed Bold"/>
              </a:rPr>
              <a:t>NỘI DUNG CHÍNH</a:t>
            </a:r>
          </a:p>
        </p:txBody>
      </p:sp>
      <p:sp>
        <p:nvSpPr>
          <p:cNvPr name="TextBox 6" id="6"/>
          <p:cNvSpPr txBox="true"/>
          <p:nvPr/>
        </p:nvSpPr>
        <p:spPr>
          <a:xfrm rot="0">
            <a:off x="1518561" y="2426137"/>
            <a:ext cx="13343461" cy="3714750"/>
          </a:xfrm>
          <a:prstGeom prst="rect">
            <a:avLst/>
          </a:prstGeom>
        </p:spPr>
        <p:txBody>
          <a:bodyPr anchor="t" rtlCol="false" tIns="0" lIns="0" bIns="0" rIns="0">
            <a:spAutoFit/>
          </a:bodyPr>
          <a:lstStyle/>
          <a:p>
            <a:pPr algn="l" marL="647700" indent="-323850" lvl="1">
              <a:lnSpc>
                <a:spcPts val="4200"/>
              </a:lnSpc>
              <a:buAutoNum type="arabicPeriod" startAt="1"/>
            </a:pPr>
            <a:r>
              <a:rPr lang="en-US" sz="3000">
                <a:solidFill>
                  <a:srgbClr val="1B1A17"/>
                </a:solidFill>
                <a:latin typeface="IBM Plex Sans Condensed"/>
                <a:ea typeface="IBM Plex Sans Condensed"/>
                <a:cs typeface="IBM Plex Sans Condensed"/>
                <a:sym typeface="IBM Plex Sans Condensed"/>
              </a:rPr>
              <a:t> Giới thiệu về đề tài</a:t>
            </a:r>
          </a:p>
          <a:p>
            <a:pPr algn="l" marL="647700" indent="-323850" lvl="1">
              <a:lnSpc>
                <a:spcPts val="4200"/>
              </a:lnSpc>
              <a:buAutoNum type="arabicPeriod" startAt="1"/>
            </a:pPr>
            <a:r>
              <a:rPr lang="en-US" sz="3000">
                <a:solidFill>
                  <a:srgbClr val="1B1A17"/>
                </a:solidFill>
                <a:latin typeface="IBM Plex Sans Condensed"/>
                <a:ea typeface="IBM Plex Sans Condensed"/>
                <a:cs typeface="IBM Plex Sans Condensed"/>
                <a:sym typeface="IBM Plex Sans Condensed"/>
              </a:rPr>
              <a:t> Các mô hình được sử dụng trong đề tài</a:t>
            </a:r>
          </a:p>
          <a:p>
            <a:pPr algn="l" marL="647700" indent="-323850" lvl="1">
              <a:lnSpc>
                <a:spcPts val="4200"/>
              </a:lnSpc>
              <a:buAutoNum type="arabicPeriod" startAt="1"/>
            </a:pPr>
            <a:r>
              <a:rPr lang="en-US" sz="3000">
                <a:solidFill>
                  <a:srgbClr val="1B1A17"/>
                </a:solidFill>
                <a:latin typeface="IBM Plex Sans Condensed"/>
                <a:ea typeface="IBM Plex Sans Condensed"/>
                <a:cs typeface="IBM Plex Sans Condensed"/>
                <a:sym typeface="IBM Plex Sans Condensed"/>
              </a:rPr>
              <a:t> Mô tả dữ liệu</a:t>
            </a:r>
          </a:p>
          <a:p>
            <a:pPr algn="l" marL="647700" indent="-323850" lvl="1">
              <a:lnSpc>
                <a:spcPts val="4200"/>
              </a:lnSpc>
              <a:buAutoNum type="arabicPeriod" startAt="1"/>
            </a:pPr>
            <a:r>
              <a:rPr lang="en-US" sz="3000">
                <a:solidFill>
                  <a:srgbClr val="1B1A17"/>
                </a:solidFill>
                <a:latin typeface="IBM Plex Sans Condensed"/>
                <a:ea typeface="IBM Plex Sans Condensed"/>
                <a:cs typeface="IBM Plex Sans Condensed"/>
                <a:sym typeface="IBM Plex Sans Condensed"/>
              </a:rPr>
              <a:t> Cài đặt mô hình</a:t>
            </a:r>
          </a:p>
          <a:p>
            <a:pPr algn="l" marL="647700" indent="-323850" lvl="1">
              <a:lnSpc>
                <a:spcPts val="4200"/>
              </a:lnSpc>
              <a:buAutoNum type="arabicPeriod" startAt="1"/>
            </a:pPr>
            <a:r>
              <a:rPr lang="en-US" sz="3000">
                <a:solidFill>
                  <a:srgbClr val="1B1A17"/>
                </a:solidFill>
                <a:latin typeface="IBM Plex Sans Condensed"/>
                <a:ea typeface="IBM Plex Sans Condensed"/>
                <a:cs typeface="IBM Plex Sans Condensed"/>
                <a:sym typeface="IBM Plex Sans Condensed"/>
              </a:rPr>
              <a:t> Đánh giá mô hình</a:t>
            </a:r>
          </a:p>
          <a:p>
            <a:pPr algn="l" marL="647700" indent="-323850" lvl="1">
              <a:lnSpc>
                <a:spcPts val="4200"/>
              </a:lnSpc>
              <a:buAutoNum type="arabicPeriod" startAt="1"/>
            </a:pPr>
            <a:r>
              <a:rPr lang="en-US" sz="3000">
                <a:solidFill>
                  <a:srgbClr val="1B1A17"/>
                </a:solidFill>
                <a:latin typeface="IBM Plex Sans Condensed"/>
                <a:ea typeface="IBM Plex Sans Condensed"/>
                <a:cs typeface="IBM Plex Sans Condensed"/>
                <a:sym typeface="IBM Plex Sans Condensed"/>
              </a:rPr>
              <a:t> So sánh KNN và RF được sử dụng trong đề tài</a:t>
            </a:r>
          </a:p>
          <a:p>
            <a:pPr algn="l" marL="647700" indent="-323850" lvl="1">
              <a:lnSpc>
                <a:spcPts val="4200"/>
              </a:lnSpc>
              <a:buAutoNum type="arabicPeriod" startAt="1"/>
            </a:pPr>
            <a:r>
              <a:rPr lang="en-US" sz="3000">
                <a:solidFill>
                  <a:srgbClr val="1B1A17"/>
                </a:solidFill>
                <a:latin typeface="IBM Plex Sans Condensed"/>
                <a:ea typeface="IBM Plex Sans Condensed"/>
                <a:cs typeface="IBM Plex Sans Condensed"/>
                <a:sym typeface="IBM Plex Sans Condensed"/>
              </a:rPr>
              <a:t> Kết luận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9810148" y="5143500"/>
            <a:ext cx="8477852" cy="5657039"/>
          </a:xfrm>
          <a:custGeom>
            <a:avLst/>
            <a:gdLst/>
            <a:ahLst/>
            <a:cxnLst/>
            <a:rect r="r" b="b" t="t" l="l"/>
            <a:pathLst>
              <a:path h="5657039" w="8477852">
                <a:moveTo>
                  <a:pt x="0" y="5657039"/>
                </a:moveTo>
                <a:lnTo>
                  <a:pt x="8477852" y="5657039"/>
                </a:lnTo>
                <a:lnTo>
                  <a:pt x="8477852" y="0"/>
                </a:lnTo>
                <a:lnTo>
                  <a:pt x="0" y="0"/>
                </a:lnTo>
                <a:lnTo>
                  <a:pt x="0" y="565703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235603" y="1209675"/>
            <a:ext cx="11835185" cy="1035051"/>
          </a:xfrm>
          <a:prstGeom prst="rect">
            <a:avLst/>
          </a:prstGeom>
        </p:spPr>
        <p:txBody>
          <a:bodyPr anchor="t" rtlCol="false" tIns="0" lIns="0" bIns="0" rIns="0">
            <a:spAutoFit/>
          </a:bodyPr>
          <a:lstStyle/>
          <a:p>
            <a:pPr algn="l">
              <a:lnSpc>
                <a:spcPts val="7600"/>
              </a:lnSpc>
            </a:pPr>
            <a:r>
              <a:rPr lang="en-US" sz="8000" b="true">
                <a:solidFill>
                  <a:srgbClr val="1B1A17"/>
                </a:solidFill>
                <a:latin typeface="IBM Plex Sans Condensed Bold"/>
                <a:ea typeface="IBM Plex Sans Condensed Bold"/>
                <a:cs typeface="IBM Plex Sans Condensed Bold"/>
                <a:sym typeface="IBM Plex Sans Condensed Bold"/>
              </a:rPr>
              <a:t>1. GIỚI THIỆU VỀ ĐỀ TÀI</a:t>
            </a:r>
          </a:p>
        </p:txBody>
      </p:sp>
      <p:sp>
        <p:nvSpPr>
          <p:cNvPr name="Freeform 4" id="4"/>
          <p:cNvSpPr/>
          <p:nvPr/>
        </p:nvSpPr>
        <p:spPr>
          <a:xfrm flipH="true" flipV="true" rot="0">
            <a:off x="-19050" y="8325049"/>
            <a:ext cx="2403281" cy="1961951"/>
          </a:xfrm>
          <a:custGeom>
            <a:avLst/>
            <a:gdLst/>
            <a:ahLst/>
            <a:cxnLst/>
            <a:rect r="r" b="b" t="t" l="l"/>
            <a:pathLst>
              <a:path h="1961951" w="2403281">
                <a:moveTo>
                  <a:pt x="2403281" y="1961951"/>
                </a:moveTo>
                <a:lnTo>
                  <a:pt x="0" y="1961951"/>
                </a:lnTo>
                <a:lnTo>
                  <a:pt x="0" y="0"/>
                </a:lnTo>
                <a:lnTo>
                  <a:pt x="2403281" y="0"/>
                </a:lnTo>
                <a:lnTo>
                  <a:pt x="2403281" y="1961951"/>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0">
            <a:off x="-19050" y="8535324"/>
            <a:ext cx="2145705" cy="1751676"/>
          </a:xfrm>
          <a:custGeom>
            <a:avLst/>
            <a:gdLst/>
            <a:ahLst/>
            <a:cxnLst/>
            <a:rect r="r" b="b" t="t" l="l"/>
            <a:pathLst>
              <a:path h="1751676" w="2145705">
                <a:moveTo>
                  <a:pt x="2145705" y="1751676"/>
                </a:moveTo>
                <a:lnTo>
                  <a:pt x="0" y="1751676"/>
                </a:lnTo>
                <a:lnTo>
                  <a:pt x="0" y="0"/>
                </a:lnTo>
                <a:lnTo>
                  <a:pt x="2145705" y="0"/>
                </a:lnTo>
                <a:lnTo>
                  <a:pt x="2145705" y="175167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903182" y="2407268"/>
            <a:ext cx="11018056" cy="6314852"/>
          </a:xfrm>
          <a:prstGeom prst="rect">
            <a:avLst/>
          </a:prstGeom>
        </p:spPr>
        <p:txBody>
          <a:bodyPr anchor="t" rtlCol="false" tIns="0" lIns="0" bIns="0" rIns="0">
            <a:spAutoFit/>
          </a:bodyPr>
          <a:lstStyle/>
          <a:p>
            <a:pPr algn="l">
              <a:lnSpc>
                <a:spcPts val="3950"/>
              </a:lnSpc>
              <a:spcBef>
                <a:spcPct val="0"/>
              </a:spcBef>
            </a:pPr>
            <a:r>
              <a:rPr lang="en-US" sz="2821">
                <a:solidFill>
                  <a:srgbClr val="1B1A17"/>
                </a:solidFill>
                <a:latin typeface="IBM Plex Sans Condensed"/>
                <a:ea typeface="IBM Plex Sans Condensed"/>
                <a:cs typeface="IBM Plex Sans Condensed"/>
                <a:sym typeface="IBM Plex Sans Condensed"/>
              </a:rPr>
              <a:t>Trong bối cảnh cạnh tranh khốc liệt hiện nay, nguồn nhân lực được xem là yếu tố quyết định sự thành công của mỗi doanh nghiệp. Tuy nhiên, tình trạng nhân viên nghỉ việc (attrition) ngày càng phổ biến, gây ra nhiều hậu quả như giảm năng suất, tăng chi phí tuyển dụng – đào tạo, ảnh hưởng đến chất lượng dịch vụ và sự ổn định của tổ chức. Vì vậy, việc dự đoán trước khả năng nhân viên rời bỏ công ty là rất quan trọng để doanh nghiệp đưa ra các biện pháp duy trì, hỗ trợ và quản lý phù hợp.</a:t>
            </a:r>
          </a:p>
          <a:p>
            <a:pPr algn="l">
              <a:lnSpc>
                <a:spcPts val="3950"/>
              </a:lnSpc>
              <a:spcBef>
                <a:spcPct val="0"/>
              </a:spcBef>
            </a:pPr>
            <a:r>
              <a:rPr lang="en-US" sz="2821">
                <a:solidFill>
                  <a:srgbClr val="1B1A17"/>
                </a:solidFill>
                <a:latin typeface="IBM Plex Sans Condensed"/>
                <a:ea typeface="IBM Plex Sans Condensed"/>
                <a:cs typeface="IBM Plex Sans Condensed"/>
                <a:sym typeface="IBM Plex Sans Condensed"/>
              </a:rPr>
              <a:t>Đề tài trên sử dụng các thuật toán Random Forest và K-Nearest Neighbors (KNN) hướng tới việc ứng dụng kỹ thuật Machine Learning để phân tích dữ liệu nhân sự và xây dựng mô hình dự đoán xác suất nghỉ việc của từng nhân viên. Từ các dữ liệu như độ tuổi, mức lương, số năm làm việc, mức độ hài lòng công việc, môi trường làm việc,… mô hình có thể nhận diện sớm các trường hợp có nguy cơ cao.</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7297641"/>
            <a:ext cx="5249576" cy="3502899"/>
          </a:xfrm>
          <a:custGeom>
            <a:avLst/>
            <a:gdLst/>
            <a:ahLst/>
            <a:cxnLst/>
            <a:rect r="r" b="b" t="t" l="l"/>
            <a:pathLst>
              <a:path h="3502899" w="5249576">
                <a:moveTo>
                  <a:pt x="5249576" y="3502898"/>
                </a:moveTo>
                <a:lnTo>
                  <a:pt x="0" y="3502898"/>
                </a:lnTo>
                <a:lnTo>
                  <a:pt x="0" y="0"/>
                </a:lnTo>
                <a:lnTo>
                  <a:pt x="5249576" y="0"/>
                </a:lnTo>
                <a:lnTo>
                  <a:pt x="5249576" y="3502898"/>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9948373" y="2126661"/>
            <a:ext cx="7656113" cy="1873835"/>
          </a:xfrm>
          <a:prstGeom prst="rect">
            <a:avLst/>
          </a:prstGeom>
        </p:spPr>
        <p:txBody>
          <a:bodyPr anchor="t" rtlCol="false" tIns="0" lIns="0" bIns="0" rIns="0">
            <a:spAutoFit/>
          </a:bodyPr>
          <a:lstStyle/>
          <a:p>
            <a:pPr algn="l">
              <a:lnSpc>
                <a:spcPts val="7169"/>
              </a:lnSpc>
            </a:pPr>
            <a:r>
              <a:rPr lang="en-US" sz="7547" b="true">
                <a:solidFill>
                  <a:srgbClr val="1B1A17"/>
                </a:solidFill>
                <a:latin typeface="IBM Plex Sans Condensed Bold"/>
                <a:ea typeface="IBM Plex Sans Condensed Bold"/>
                <a:cs typeface="IBM Plex Sans Condensed Bold"/>
                <a:sym typeface="IBM Plex Sans Condensed Bold"/>
              </a:rPr>
              <a:t>NGUỒN DỮ LIỆU (DATASET)</a:t>
            </a:r>
          </a:p>
        </p:txBody>
      </p:sp>
      <p:sp>
        <p:nvSpPr>
          <p:cNvPr name="Freeform 4" id="4"/>
          <p:cNvSpPr/>
          <p:nvPr/>
        </p:nvSpPr>
        <p:spPr>
          <a:xfrm flipH="false" flipV="true" rot="0">
            <a:off x="15884719" y="8325049"/>
            <a:ext cx="2403281" cy="1961951"/>
          </a:xfrm>
          <a:custGeom>
            <a:avLst/>
            <a:gdLst/>
            <a:ahLst/>
            <a:cxnLst/>
            <a:rect r="r" b="b" t="t" l="l"/>
            <a:pathLst>
              <a:path h="1961951" w="2403281">
                <a:moveTo>
                  <a:pt x="0" y="1961951"/>
                </a:moveTo>
                <a:lnTo>
                  <a:pt x="2403281" y="1961951"/>
                </a:lnTo>
                <a:lnTo>
                  <a:pt x="2403281" y="0"/>
                </a:lnTo>
                <a:lnTo>
                  <a:pt x="0" y="0"/>
                </a:lnTo>
                <a:lnTo>
                  <a:pt x="0" y="1961951"/>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0">
            <a:off x="16142295" y="8535324"/>
            <a:ext cx="2145705" cy="1751676"/>
          </a:xfrm>
          <a:custGeom>
            <a:avLst/>
            <a:gdLst/>
            <a:ahLst/>
            <a:cxnLst/>
            <a:rect r="r" b="b" t="t" l="l"/>
            <a:pathLst>
              <a:path h="1751676" w="2145705">
                <a:moveTo>
                  <a:pt x="0" y="1751676"/>
                </a:moveTo>
                <a:lnTo>
                  <a:pt x="2145705" y="1751676"/>
                </a:lnTo>
                <a:lnTo>
                  <a:pt x="2145705" y="0"/>
                </a:lnTo>
                <a:lnTo>
                  <a:pt x="0" y="0"/>
                </a:lnTo>
                <a:lnTo>
                  <a:pt x="0" y="175167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9952150" y="4473801"/>
            <a:ext cx="7307150" cy="1146175"/>
          </a:xfrm>
          <a:prstGeom prst="rect">
            <a:avLst/>
          </a:prstGeom>
        </p:spPr>
        <p:txBody>
          <a:bodyPr anchor="t" rtlCol="false" tIns="0" lIns="0" bIns="0" rIns="0">
            <a:spAutoFit/>
          </a:bodyPr>
          <a:lstStyle/>
          <a:p>
            <a:pPr algn="l">
              <a:lnSpc>
                <a:spcPts val="3049"/>
              </a:lnSpc>
            </a:pPr>
            <a:r>
              <a:rPr lang="en-US" sz="2499">
                <a:solidFill>
                  <a:srgbClr val="1B1A17"/>
                </a:solidFill>
                <a:latin typeface="IBM Plex Sans"/>
                <a:ea typeface="IBM Plex Sans"/>
                <a:cs typeface="IBM Plex Sans"/>
                <a:sym typeface="IBM Plex Sans"/>
              </a:rPr>
              <a:t>Nguồn dữ liệu được lấy từ: </a:t>
            </a:r>
          </a:p>
          <a:p>
            <a:pPr algn="l">
              <a:lnSpc>
                <a:spcPts val="3049"/>
              </a:lnSpc>
            </a:pPr>
            <a:r>
              <a:rPr lang="en-US" sz="2499">
                <a:solidFill>
                  <a:srgbClr val="1B1A17"/>
                </a:solidFill>
                <a:latin typeface="IBM Plex Sans"/>
                <a:ea typeface="IBM Plex Sans"/>
                <a:cs typeface="IBM Plex Sans"/>
                <a:sym typeface="IBM Plex Sans"/>
              </a:rPr>
              <a:t>https://www.kaggle.com/datasets/pavansubhasht/ibm-hr-analytics-attrition-dataset/data</a:t>
            </a:r>
          </a:p>
        </p:txBody>
      </p:sp>
      <p:sp>
        <p:nvSpPr>
          <p:cNvPr name="Freeform 7" id="7"/>
          <p:cNvSpPr/>
          <p:nvPr/>
        </p:nvSpPr>
        <p:spPr>
          <a:xfrm flipH="false" flipV="false" rot="0">
            <a:off x="1466740" y="2160491"/>
            <a:ext cx="6986343" cy="6497299"/>
          </a:xfrm>
          <a:custGeom>
            <a:avLst/>
            <a:gdLst/>
            <a:ahLst/>
            <a:cxnLst/>
            <a:rect r="r" b="b" t="t" l="l"/>
            <a:pathLst>
              <a:path h="6497299" w="6986343">
                <a:moveTo>
                  <a:pt x="0" y="0"/>
                </a:moveTo>
                <a:lnTo>
                  <a:pt x="6986343" y="0"/>
                </a:lnTo>
                <a:lnTo>
                  <a:pt x="6986343" y="6497299"/>
                </a:lnTo>
                <a:lnTo>
                  <a:pt x="0" y="649729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5143500"/>
            <a:ext cx="8477852" cy="5657039"/>
          </a:xfrm>
          <a:custGeom>
            <a:avLst/>
            <a:gdLst/>
            <a:ahLst/>
            <a:cxnLst/>
            <a:rect r="r" b="b" t="t" l="l"/>
            <a:pathLst>
              <a:path h="5657039" w="8477852">
                <a:moveTo>
                  <a:pt x="8477852" y="5657039"/>
                </a:moveTo>
                <a:lnTo>
                  <a:pt x="0" y="5657039"/>
                </a:lnTo>
                <a:lnTo>
                  <a:pt x="0" y="0"/>
                </a:lnTo>
                <a:lnTo>
                  <a:pt x="8477852" y="0"/>
                </a:lnTo>
                <a:lnTo>
                  <a:pt x="8477852" y="565703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1209675"/>
            <a:ext cx="8115300" cy="2959101"/>
          </a:xfrm>
          <a:prstGeom prst="rect">
            <a:avLst/>
          </a:prstGeom>
        </p:spPr>
        <p:txBody>
          <a:bodyPr anchor="t" rtlCol="false" tIns="0" lIns="0" bIns="0" rIns="0">
            <a:spAutoFit/>
          </a:bodyPr>
          <a:lstStyle/>
          <a:p>
            <a:pPr algn="l">
              <a:lnSpc>
                <a:spcPts val="7600"/>
              </a:lnSpc>
            </a:pPr>
            <a:r>
              <a:rPr lang="en-US" sz="8000" b="true">
                <a:solidFill>
                  <a:srgbClr val="1B1A17"/>
                </a:solidFill>
                <a:latin typeface="IBM Plex Sans Condensed Bold"/>
                <a:ea typeface="IBM Plex Sans Condensed Bold"/>
                <a:cs typeface="IBM Plex Sans Condensed Bold"/>
                <a:sym typeface="IBM Plex Sans Condensed Bold"/>
              </a:rPr>
              <a:t>2. CÁC MÔ HÌNH ĐƯỢC SỬ DỤNG TRONG ĐỀ TÀI</a:t>
            </a:r>
          </a:p>
        </p:txBody>
      </p:sp>
      <p:sp>
        <p:nvSpPr>
          <p:cNvPr name="TextBox 4" id="4"/>
          <p:cNvSpPr txBox="true"/>
          <p:nvPr/>
        </p:nvSpPr>
        <p:spPr>
          <a:xfrm rot="0">
            <a:off x="1028700" y="4423474"/>
            <a:ext cx="6965740" cy="906780"/>
          </a:xfrm>
          <a:prstGeom prst="rect">
            <a:avLst/>
          </a:prstGeom>
        </p:spPr>
        <p:txBody>
          <a:bodyPr anchor="t" rtlCol="false" tIns="0" lIns="0" bIns="0" rIns="0">
            <a:spAutoFit/>
          </a:bodyPr>
          <a:lstStyle/>
          <a:p>
            <a:pPr algn="l" marL="647700" indent="-323850" lvl="1">
              <a:lnSpc>
                <a:spcPts val="3660"/>
              </a:lnSpc>
              <a:buAutoNum type="arabicPeriod" startAt="1"/>
            </a:pPr>
            <a:r>
              <a:rPr lang="en-US" sz="3000">
                <a:solidFill>
                  <a:srgbClr val="1B1A17"/>
                </a:solidFill>
                <a:latin typeface="IBM Plex Sans"/>
                <a:ea typeface="IBM Plex Sans"/>
                <a:cs typeface="IBM Plex Sans"/>
                <a:sym typeface="IBM Plex Sans"/>
              </a:rPr>
              <a:t>K-Nearest Neighbors</a:t>
            </a:r>
          </a:p>
          <a:p>
            <a:pPr algn="l" marL="647700" indent="-323850" lvl="1">
              <a:lnSpc>
                <a:spcPts val="3660"/>
              </a:lnSpc>
              <a:buAutoNum type="arabicPeriod" startAt="1"/>
            </a:pPr>
            <a:r>
              <a:rPr lang="en-US" sz="3000">
                <a:solidFill>
                  <a:srgbClr val="1B1A17"/>
                </a:solidFill>
                <a:latin typeface="IBM Plex Sans"/>
                <a:ea typeface="IBM Plex Sans"/>
                <a:cs typeface="IBM Plex Sans"/>
                <a:sym typeface="IBM Plex Sans"/>
              </a:rPr>
              <a:t>Random Forest</a:t>
            </a:r>
          </a:p>
        </p:txBody>
      </p:sp>
      <p:sp>
        <p:nvSpPr>
          <p:cNvPr name="Freeform 5" id="5"/>
          <p:cNvSpPr/>
          <p:nvPr/>
        </p:nvSpPr>
        <p:spPr>
          <a:xfrm flipH="false" flipV="true" rot="0">
            <a:off x="15884719" y="8325049"/>
            <a:ext cx="2403281" cy="1961951"/>
          </a:xfrm>
          <a:custGeom>
            <a:avLst/>
            <a:gdLst/>
            <a:ahLst/>
            <a:cxnLst/>
            <a:rect r="r" b="b" t="t" l="l"/>
            <a:pathLst>
              <a:path h="1961951" w="2403281">
                <a:moveTo>
                  <a:pt x="0" y="1961951"/>
                </a:moveTo>
                <a:lnTo>
                  <a:pt x="2403281" y="1961951"/>
                </a:lnTo>
                <a:lnTo>
                  <a:pt x="2403281" y="0"/>
                </a:lnTo>
                <a:lnTo>
                  <a:pt x="0" y="0"/>
                </a:lnTo>
                <a:lnTo>
                  <a:pt x="0" y="1961951"/>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true" rot="0">
            <a:off x="16142295" y="8535324"/>
            <a:ext cx="2145705" cy="1751676"/>
          </a:xfrm>
          <a:custGeom>
            <a:avLst/>
            <a:gdLst/>
            <a:ahLst/>
            <a:cxnLst/>
            <a:rect r="r" b="b" t="t" l="l"/>
            <a:pathLst>
              <a:path h="1751676" w="2145705">
                <a:moveTo>
                  <a:pt x="0" y="1751676"/>
                </a:moveTo>
                <a:lnTo>
                  <a:pt x="2145705" y="1751676"/>
                </a:lnTo>
                <a:lnTo>
                  <a:pt x="2145705" y="0"/>
                </a:lnTo>
                <a:lnTo>
                  <a:pt x="0" y="0"/>
                </a:lnTo>
                <a:lnTo>
                  <a:pt x="0" y="1751676"/>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1393518"/>
            <a:ext cx="6545714" cy="4367776"/>
          </a:xfrm>
          <a:custGeom>
            <a:avLst/>
            <a:gdLst/>
            <a:ahLst/>
            <a:cxnLst/>
            <a:rect r="r" b="b" t="t" l="l"/>
            <a:pathLst>
              <a:path h="4367776" w="6545714">
                <a:moveTo>
                  <a:pt x="6545714" y="0"/>
                </a:moveTo>
                <a:lnTo>
                  <a:pt x="0" y="0"/>
                </a:lnTo>
                <a:lnTo>
                  <a:pt x="0" y="4367777"/>
                </a:lnTo>
                <a:lnTo>
                  <a:pt x="6545714" y="4367777"/>
                </a:lnTo>
                <a:lnTo>
                  <a:pt x="654571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15884719" y="8325049"/>
            <a:ext cx="2403281" cy="1961951"/>
          </a:xfrm>
          <a:custGeom>
            <a:avLst/>
            <a:gdLst/>
            <a:ahLst/>
            <a:cxnLst/>
            <a:rect r="r" b="b" t="t" l="l"/>
            <a:pathLst>
              <a:path h="1961951" w="2403281">
                <a:moveTo>
                  <a:pt x="0" y="1961951"/>
                </a:moveTo>
                <a:lnTo>
                  <a:pt x="2403281" y="1961951"/>
                </a:lnTo>
                <a:lnTo>
                  <a:pt x="2403281" y="0"/>
                </a:lnTo>
                <a:lnTo>
                  <a:pt x="0" y="0"/>
                </a:lnTo>
                <a:lnTo>
                  <a:pt x="0" y="1961951"/>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0">
            <a:off x="16142295" y="8535324"/>
            <a:ext cx="2145705" cy="1751676"/>
          </a:xfrm>
          <a:custGeom>
            <a:avLst/>
            <a:gdLst/>
            <a:ahLst/>
            <a:cxnLst/>
            <a:rect r="r" b="b" t="t" l="l"/>
            <a:pathLst>
              <a:path h="1751676" w="2145705">
                <a:moveTo>
                  <a:pt x="0" y="1751676"/>
                </a:moveTo>
                <a:lnTo>
                  <a:pt x="2145705" y="1751676"/>
                </a:lnTo>
                <a:lnTo>
                  <a:pt x="2145705" y="0"/>
                </a:lnTo>
                <a:lnTo>
                  <a:pt x="0" y="0"/>
                </a:lnTo>
                <a:lnTo>
                  <a:pt x="0" y="175167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4647253" y="4666066"/>
            <a:ext cx="8993494" cy="5620934"/>
          </a:xfrm>
          <a:custGeom>
            <a:avLst/>
            <a:gdLst/>
            <a:ahLst/>
            <a:cxnLst/>
            <a:rect r="r" b="b" t="t" l="l"/>
            <a:pathLst>
              <a:path h="5620934" w="8993494">
                <a:moveTo>
                  <a:pt x="0" y="0"/>
                </a:moveTo>
                <a:lnTo>
                  <a:pt x="8993494" y="0"/>
                </a:lnTo>
                <a:lnTo>
                  <a:pt x="8993494" y="5620934"/>
                </a:lnTo>
                <a:lnTo>
                  <a:pt x="0" y="5620934"/>
                </a:lnTo>
                <a:lnTo>
                  <a:pt x="0" y="0"/>
                </a:lnTo>
                <a:close/>
              </a:path>
            </a:pathLst>
          </a:custGeom>
          <a:blipFill>
            <a:blip r:embed="rId8"/>
            <a:stretch>
              <a:fillRect l="0" t="0" r="0" b="0"/>
            </a:stretch>
          </a:blipFill>
        </p:spPr>
      </p:sp>
      <p:sp>
        <p:nvSpPr>
          <p:cNvPr name="TextBox 6" id="6"/>
          <p:cNvSpPr txBox="true"/>
          <p:nvPr/>
        </p:nvSpPr>
        <p:spPr>
          <a:xfrm rot="0">
            <a:off x="1550163" y="2208704"/>
            <a:ext cx="10279125" cy="1997076"/>
          </a:xfrm>
          <a:prstGeom prst="rect">
            <a:avLst/>
          </a:prstGeom>
        </p:spPr>
        <p:txBody>
          <a:bodyPr anchor="t" rtlCol="false" tIns="0" lIns="0" bIns="0" rIns="0">
            <a:spAutoFit/>
          </a:bodyPr>
          <a:lstStyle/>
          <a:p>
            <a:pPr algn="l">
              <a:lnSpc>
                <a:spcPts val="7600"/>
              </a:lnSpc>
            </a:pPr>
            <a:r>
              <a:rPr lang="en-US" sz="8000" b="true">
                <a:solidFill>
                  <a:srgbClr val="1B1A17"/>
                </a:solidFill>
                <a:latin typeface="IBM Plex Sans Condensed Bold"/>
                <a:ea typeface="IBM Plex Sans Condensed Bold"/>
                <a:cs typeface="IBM Plex Sans Condensed Bold"/>
                <a:sym typeface="IBM Plex Sans Condensed Bold"/>
              </a:rPr>
              <a:t>K-NEAREST NEIGHBORS</a:t>
            </a:r>
          </a:p>
        </p:txBody>
      </p:sp>
      <p:sp>
        <p:nvSpPr>
          <p:cNvPr name="TextBox 7" id="7"/>
          <p:cNvSpPr txBox="true"/>
          <p:nvPr/>
        </p:nvSpPr>
        <p:spPr>
          <a:xfrm rot="0">
            <a:off x="1028700" y="4324350"/>
            <a:ext cx="13343461" cy="1047750"/>
          </a:xfrm>
          <a:prstGeom prst="rect">
            <a:avLst/>
          </a:prstGeom>
        </p:spPr>
        <p:txBody>
          <a:bodyPr anchor="t" rtlCol="false" tIns="0" lIns="0" bIns="0" rIns="0">
            <a:spAutoFit/>
          </a:bodyPr>
          <a:lstStyle/>
          <a:p>
            <a:pPr algn="l">
              <a:lnSpc>
                <a:spcPts val="4200"/>
              </a:lnSpc>
              <a:spcBef>
                <a:spcPct val="0"/>
              </a:spcBef>
            </a:pPr>
            <a:r>
              <a:rPr lang="en-US" sz="3000">
                <a:solidFill>
                  <a:srgbClr val="1B1A17"/>
                </a:solidFill>
                <a:latin typeface="IBM Plex Sans Condensed"/>
                <a:ea typeface="IBM Plex Sans Condensed"/>
                <a:cs typeface="IBM Plex Sans Condensed"/>
                <a:sym typeface="IBM Plex Sans Condensed"/>
              </a:rPr>
              <a:t>K-Nearest Neighbors (KNN) </a:t>
            </a:r>
            <a:r>
              <a:rPr lang="en-US" sz="3000">
                <a:solidFill>
                  <a:srgbClr val="1B1A17"/>
                </a:solidFill>
                <a:latin typeface="IBM Plex Sans Condensed"/>
                <a:ea typeface="IBM Plex Sans Condensed"/>
                <a:cs typeface="IBM Plex Sans Condensed"/>
                <a:sym typeface="IBM Plex Sans Condensed"/>
              </a:rPr>
              <a:t>là một bộ phân loại học có giám sát, phi tham số, sử dụng phép tính gần đúng để phân loại hoặc dự đoán về việc nhóm một điểm dữ liệu riêng lẻ.</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742286" y="-903658"/>
            <a:ext cx="6545714" cy="4367776"/>
          </a:xfrm>
          <a:custGeom>
            <a:avLst/>
            <a:gdLst/>
            <a:ahLst/>
            <a:cxnLst/>
            <a:rect r="r" b="b" t="t" l="l"/>
            <a:pathLst>
              <a:path h="4367776" w="6545714">
                <a:moveTo>
                  <a:pt x="0" y="0"/>
                </a:moveTo>
                <a:lnTo>
                  <a:pt x="6545714" y="0"/>
                </a:lnTo>
                <a:lnTo>
                  <a:pt x="6545714" y="4367776"/>
                </a:lnTo>
                <a:lnTo>
                  <a:pt x="0" y="43677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9050" y="6915047"/>
            <a:ext cx="4130454" cy="3371953"/>
          </a:xfrm>
          <a:custGeom>
            <a:avLst/>
            <a:gdLst/>
            <a:ahLst/>
            <a:cxnLst/>
            <a:rect r="r" b="b" t="t" l="l"/>
            <a:pathLst>
              <a:path h="3371953" w="4130454">
                <a:moveTo>
                  <a:pt x="4130454" y="3371953"/>
                </a:moveTo>
                <a:lnTo>
                  <a:pt x="0" y="3371953"/>
                </a:lnTo>
                <a:lnTo>
                  <a:pt x="0" y="0"/>
                </a:lnTo>
                <a:lnTo>
                  <a:pt x="4130454" y="0"/>
                </a:lnTo>
                <a:lnTo>
                  <a:pt x="4130454" y="337195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true" rot="0">
            <a:off x="-19050" y="7276443"/>
            <a:ext cx="3687765" cy="3010557"/>
          </a:xfrm>
          <a:custGeom>
            <a:avLst/>
            <a:gdLst/>
            <a:ahLst/>
            <a:cxnLst/>
            <a:rect r="r" b="b" t="t" l="l"/>
            <a:pathLst>
              <a:path h="3010557" w="3687765">
                <a:moveTo>
                  <a:pt x="3687765" y="3010557"/>
                </a:moveTo>
                <a:lnTo>
                  <a:pt x="0" y="3010557"/>
                </a:lnTo>
                <a:lnTo>
                  <a:pt x="0" y="0"/>
                </a:lnTo>
                <a:lnTo>
                  <a:pt x="3687765" y="0"/>
                </a:lnTo>
                <a:lnTo>
                  <a:pt x="3687765" y="3010557"/>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6092116" y="6141987"/>
            <a:ext cx="6103769" cy="4136438"/>
          </a:xfrm>
          <a:custGeom>
            <a:avLst/>
            <a:gdLst/>
            <a:ahLst/>
            <a:cxnLst/>
            <a:rect r="r" b="b" t="t" l="l"/>
            <a:pathLst>
              <a:path h="4136438" w="6103769">
                <a:moveTo>
                  <a:pt x="0" y="0"/>
                </a:moveTo>
                <a:lnTo>
                  <a:pt x="6103768" y="0"/>
                </a:lnTo>
                <a:lnTo>
                  <a:pt x="6103768" y="4136438"/>
                </a:lnTo>
                <a:lnTo>
                  <a:pt x="0" y="4136438"/>
                </a:lnTo>
                <a:lnTo>
                  <a:pt x="0" y="0"/>
                </a:lnTo>
                <a:close/>
              </a:path>
            </a:pathLst>
          </a:custGeom>
          <a:blipFill>
            <a:blip r:embed="rId8"/>
            <a:stretch>
              <a:fillRect l="0" t="0" r="0" b="0"/>
            </a:stretch>
          </a:blipFill>
        </p:spPr>
      </p:sp>
      <p:sp>
        <p:nvSpPr>
          <p:cNvPr name="TextBox 6" id="6"/>
          <p:cNvSpPr txBox="true"/>
          <p:nvPr/>
        </p:nvSpPr>
        <p:spPr>
          <a:xfrm rot="0">
            <a:off x="1028700" y="1209675"/>
            <a:ext cx="10441076" cy="1035051"/>
          </a:xfrm>
          <a:prstGeom prst="rect">
            <a:avLst/>
          </a:prstGeom>
        </p:spPr>
        <p:txBody>
          <a:bodyPr anchor="t" rtlCol="false" tIns="0" lIns="0" bIns="0" rIns="0">
            <a:spAutoFit/>
          </a:bodyPr>
          <a:lstStyle/>
          <a:p>
            <a:pPr algn="l">
              <a:lnSpc>
                <a:spcPts val="7600"/>
              </a:lnSpc>
            </a:pPr>
            <a:r>
              <a:rPr lang="en-US" sz="8000" b="true">
                <a:solidFill>
                  <a:srgbClr val="1B1A17"/>
                </a:solidFill>
                <a:latin typeface="IBM Plex Sans Condensed Bold"/>
                <a:ea typeface="IBM Plex Sans Condensed Bold"/>
                <a:cs typeface="IBM Plex Sans Condensed Bold"/>
                <a:sym typeface="IBM Plex Sans Condensed Bold"/>
              </a:rPr>
              <a:t>RANDOM FOREST</a:t>
            </a:r>
          </a:p>
        </p:txBody>
      </p:sp>
      <p:sp>
        <p:nvSpPr>
          <p:cNvPr name="TextBox 7" id="7"/>
          <p:cNvSpPr txBox="true"/>
          <p:nvPr/>
        </p:nvSpPr>
        <p:spPr>
          <a:xfrm rot="0">
            <a:off x="979723" y="2960637"/>
            <a:ext cx="16328554" cy="3181350"/>
          </a:xfrm>
          <a:prstGeom prst="rect">
            <a:avLst/>
          </a:prstGeom>
        </p:spPr>
        <p:txBody>
          <a:bodyPr anchor="t" rtlCol="false" tIns="0" lIns="0" bIns="0" rIns="0">
            <a:spAutoFit/>
          </a:bodyPr>
          <a:lstStyle/>
          <a:p>
            <a:pPr algn="l">
              <a:lnSpc>
                <a:spcPts val="4200"/>
              </a:lnSpc>
              <a:spcBef>
                <a:spcPct val="0"/>
              </a:spcBef>
            </a:pPr>
            <a:r>
              <a:rPr lang="en-US" sz="3000">
                <a:solidFill>
                  <a:srgbClr val="1B1A17"/>
                </a:solidFill>
                <a:latin typeface="IBM Plex Sans Condensed"/>
                <a:ea typeface="IBM Plex Sans Condensed"/>
                <a:cs typeface="IBM Plex Sans Condensed"/>
                <a:sym typeface="IBM Plex Sans Condensed"/>
              </a:rPr>
              <a:t>Random forest là thuật toán supervised learning, có thể giải quyết cả bài toán regression và classification.</a:t>
            </a:r>
          </a:p>
          <a:p>
            <a:pPr algn="ctr">
              <a:lnSpc>
                <a:spcPts val="4200"/>
              </a:lnSpc>
              <a:spcBef>
                <a:spcPct val="0"/>
              </a:spcBef>
            </a:pPr>
          </a:p>
          <a:p>
            <a:pPr algn="l">
              <a:lnSpc>
                <a:spcPts val="4200"/>
              </a:lnSpc>
              <a:spcBef>
                <a:spcPct val="0"/>
              </a:spcBef>
            </a:pPr>
            <a:r>
              <a:rPr lang="en-US" sz="3000">
                <a:solidFill>
                  <a:srgbClr val="1B1A17"/>
                </a:solidFill>
                <a:latin typeface="IBM Plex Sans Condensed"/>
                <a:ea typeface="IBM Plex Sans Condensed"/>
                <a:cs typeface="IBM Plex Sans Condensed"/>
                <a:sym typeface="IBM Plex Sans Condensed"/>
              </a:rPr>
              <a:t>Là một thuật toán học máy thuộc nhóm học có giám sát (supervised learning) và được sử dụng phổ biến trong các bài toán phân loại (classification) và hồi quy (regression). Thuật toán này là một dạng của tập hợp học (ensemble learning), nơi mà nhiều mô hình yếu (weak learners), cụ thể là các cây quyết định (decision trees), được kết hợp lại để tạo thành một mô hình mạnh mẽ hơn.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5143500"/>
            <a:ext cx="8477852" cy="5657039"/>
          </a:xfrm>
          <a:custGeom>
            <a:avLst/>
            <a:gdLst/>
            <a:ahLst/>
            <a:cxnLst/>
            <a:rect r="r" b="b" t="t" l="l"/>
            <a:pathLst>
              <a:path h="5657039" w="8477852">
                <a:moveTo>
                  <a:pt x="8477852" y="5657039"/>
                </a:moveTo>
                <a:lnTo>
                  <a:pt x="0" y="5657039"/>
                </a:lnTo>
                <a:lnTo>
                  <a:pt x="0" y="0"/>
                </a:lnTo>
                <a:lnTo>
                  <a:pt x="8477852" y="0"/>
                </a:lnTo>
                <a:lnTo>
                  <a:pt x="8477852" y="565703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385087" y="1932651"/>
            <a:ext cx="9945690" cy="1035051"/>
          </a:xfrm>
          <a:prstGeom prst="rect">
            <a:avLst/>
          </a:prstGeom>
        </p:spPr>
        <p:txBody>
          <a:bodyPr anchor="t" rtlCol="false" tIns="0" lIns="0" bIns="0" rIns="0">
            <a:spAutoFit/>
          </a:bodyPr>
          <a:lstStyle/>
          <a:p>
            <a:pPr algn="just">
              <a:lnSpc>
                <a:spcPts val="7600"/>
              </a:lnSpc>
            </a:pPr>
            <a:r>
              <a:rPr lang="en-US" b="true" sz="8000">
                <a:solidFill>
                  <a:srgbClr val="1B1A17"/>
                </a:solidFill>
                <a:latin typeface="IBM Plex Sans Condensed Bold"/>
                <a:ea typeface="IBM Plex Sans Condensed Bold"/>
                <a:cs typeface="IBM Plex Sans Condensed Bold"/>
                <a:sym typeface="IBM Plex Sans Condensed Bold"/>
              </a:rPr>
              <a:t>METRICS ĐÁNH GIÁ</a:t>
            </a:r>
          </a:p>
        </p:txBody>
      </p:sp>
      <p:sp>
        <p:nvSpPr>
          <p:cNvPr name="Freeform 4" id="4"/>
          <p:cNvSpPr/>
          <p:nvPr/>
        </p:nvSpPr>
        <p:spPr>
          <a:xfrm flipH="true" flipV="false" rot="0">
            <a:off x="-19050" y="0"/>
            <a:ext cx="2403281" cy="1961951"/>
          </a:xfrm>
          <a:custGeom>
            <a:avLst/>
            <a:gdLst/>
            <a:ahLst/>
            <a:cxnLst/>
            <a:rect r="r" b="b" t="t" l="l"/>
            <a:pathLst>
              <a:path h="1961951" w="2403281">
                <a:moveTo>
                  <a:pt x="2403281" y="0"/>
                </a:moveTo>
                <a:lnTo>
                  <a:pt x="0" y="0"/>
                </a:lnTo>
                <a:lnTo>
                  <a:pt x="0" y="1961951"/>
                </a:lnTo>
                <a:lnTo>
                  <a:pt x="2403281" y="1961951"/>
                </a:lnTo>
                <a:lnTo>
                  <a:pt x="240328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9050" y="0"/>
            <a:ext cx="2145705" cy="1751676"/>
          </a:xfrm>
          <a:custGeom>
            <a:avLst/>
            <a:gdLst/>
            <a:ahLst/>
            <a:cxnLst/>
            <a:rect r="r" b="b" t="t" l="l"/>
            <a:pathLst>
              <a:path h="1751676" w="2145705">
                <a:moveTo>
                  <a:pt x="2145705" y="0"/>
                </a:moveTo>
                <a:lnTo>
                  <a:pt x="0" y="0"/>
                </a:lnTo>
                <a:lnTo>
                  <a:pt x="0" y="1751676"/>
                </a:lnTo>
                <a:lnTo>
                  <a:pt x="2145705" y="1751676"/>
                </a:lnTo>
                <a:lnTo>
                  <a:pt x="214570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4725245" y="2860544"/>
            <a:ext cx="4925134" cy="1053267"/>
          </a:xfrm>
          <a:custGeom>
            <a:avLst/>
            <a:gdLst/>
            <a:ahLst/>
            <a:cxnLst/>
            <a:rect r="r" b="b" t="t" l="l"/>
            <a:pathLst>
              <a:path h="1053267" w="4925134">
                <a:moveTo>
                  <a:pt x="0" y="0"/>
                </a:moveTo>
                <a:lnTo>
                  <a:pt x="4925134" y="0"/>
                </a:lnTo>
                <a:lnTo>
                  <a:pt x="4925134" y="1053267"/>
                </a:lnTo>
                <a:lnTo>
                  <a:pt x="0" y="1053267"/>
                </a:lnTo>
                <a:lnTo>
                  <a:pt x="0" y="0"/>
                </a:lnTo>
                <a:close/>
              </a:path>
            </a:pathLst>
          </a:custGeom>
          <a:blipFill>
            <a:blip r:embed="rId8"/>
            <a:stretch>
              <a:fillRect l="0" t="0" r="0" b="0"/>
            </a:stretch>
          </a:blipFill>
        </p:spPr>
      </p:sp>
      <p:sp>
        <p:nvSpPr>
          <p:cNvPr name="Freeform 7" id="7"/>
          <p:cNvSpPr/>
          <p:nvPr/>
        </p:nvSpPr>
        <p:spPr>
          <a:xfrm flipH="false" flipV="false" rot="0">
            <a:off x="4826466" y="3723393"/>
            <a:ext cx="3062934" cy="1035358"/>
          </a:xfrm>
          <a:custGeom>
            <a:avLst/>
            <a:gdLst/>
            <a:ahLst/>
            <a:cxnLst/>
            <a:rect r="r" b="b" t="t" l="l"/>
            <a:pathLst>
              <a:path h="1035358" w="3062934">
                <a:moveTo>
                  <a:pt x="0" y="0"/>
                </a:moveTo>
                <a:lnTo>
                  <a:pt x="3062933" y="0"/>
                </a:lnTo>
                <a:lnTo>
                  <a:pt x="3062933" y="1035358"/>
                </a:lnTo>
                <a:lnTo>
                  <a:pt x="0" y="1035358"/>
                </a:lnTo>
                <a:lnTo>
                  <a:pt x="0" y="0"/>
                </a:lnTo>
                <a:close/>
              </a:path>
            </a:pathLst>
          </a:custGeom>
          <a:blipFill>
            <a:blip r:embed="rId9"/>
            <a:stretch>
              <a:fillRect l="0" t="0" r="0" b="0"/>
            </a:stretch>
          </a:blipFill>
        </p:spPr>
      </p:sp>
      <p:sp>
        <p:nvSpPr>
          <p:cNvPr name="TextBox 8" id="8"/>
          <p:cNvSpPr txBox="true"/>
          <p:nvPr/>
        </p:nvSpPr>
        <p:spPr>
          <a:xfrm rot="0">
            <a:off x="2126655" y="3162361"/>
            <a:ext cx="6965740" cy="3192780"/>
          </a:xfrm>
          <a:prstGeom prst="rect">
            <a:avLst/>
          </a:prstGeom>
        </p:spPr>
        <p:txBody>
          <a:bodyPr anchor="t" rtlCol="false" tIns="0" lIns="0" bIns="0" rIns="0">
            <a:spAutoFit/>
          </a:bodyPr>
          <a:lstStyle/>
          <a:p>
            <a:pPr algn="l">
              <a:lnSpc>
                <a:spcPts val="3660"/>
              </a:lnSpc>
            </a:pPr>
            <a:r>
              <a:rPr lang="en-US" sz="3000">
                <a:solidFill>
                  <a:srgbClr val="1B1A17"/>
                </a:solidFill>
                <a:latin typeface="IBM Plex Sans"/>
                <a:ea typeface="IBM Plex Sans"/>
                <a:cs typeface="IBM Plex Sans"/>
                <a:sym typeface="IBM Plex Sans"/>
              </a:rPr>
              <a:t>Accuracy</a:t>
            </a:r>
          </a:p>
          <a:p>
            <a:pPr algn="l">
              <a:lnSpc>
                <a:spcPts val="3660"/>
              </a:lnSpc>
            </a:pPr>
          </a:p>
          <a:p>
            <a:pPr algn="l">
              <a:lnSpc>
                <a:spcPts val="3660"/>
              </a:lnSpc>
            </a:pPr>
            <a:r>
              <a:rPr lang="en-US" sz="3000">
                <a:solidFill>
                  <a:srgbClr val="1B1A17"/>
                </a:solidFill>
                <a:latin typeface="IBM Plex Sans"/>
                <a:ea typeface="IBM Plex Sans"/>
                <a:cs typeface="IBM Plex Sans"/>
                <a:sym typeface="IBM Plex Sans"/>
              </a:rPr>
              <a:t>Precision</a:t>
            </a:r>
          </a:p>
          <a:p>
            <a:pPr algn="l">
              <a:lnSpc>
                <a:spcPts val="3660"/>
              </a:lnSpc>
            </a:pPr>
          </a:p>
          <a:p>
            <a:pPr algn="l">
              <a:lnSpc>
                <a:spcPts val="3660"/>
              </a:lnSpc>
            </a:pPr>
            <a:r>
              <a:rPr lang="en-US" sz="3000">
                <a:solidFill>
                  <a:srgbClr val="1B1A17"/>
                </a:solidFill>
                <a:latin typeface="IBM Plex Sans"/>
                <a:ea typeface="IBM Plex Sans"/>
                <a:cs typeface="IBM Plex Sans"/>
                <a:sym typeface="IBM Plex Sans"/>
              </a:rPr>
              <a:t>Recall</a:t>
            </a:r>
          </a:p>
          <a:p>
            <a:pPr algn="l">
              <a:lnSpc>
                <a:spcPts val="3660"/>
              </a:lnSpc>
            </a:pPr>
          </a:p>
          <a:p>
            <a:pPr algn="l">
              <a:lnSpc>
                <a:spcPts val="3660"/>
              </a:lnSpc>
            </a:pPr>
            <a:r>
              <a:rPr lang="en-US" sz="3000">
                <a:solidFill>
                  <a:srgbClr val="1B1A17"/>
                </a:solidFill>
                <a:latin typeface="IBM Plex Sans"/>
                <a:ea typeface="IBM Plex Sans"/>
                <a:cs typeface="IBM Plex Sans"/>
                <a:sym typeface="IBM Plex Sans"/>
              </a:rPr>
              <a:t>F1-score</a:t>
            </a:r>
          </a:p>
        </p:txBody>
      </p:sp>
      <p:sp>
        <p:nvSpPr>
          <p:cNvPr name="Freeform 9" id="9"/>
          <p:cNvSpPr/>
          <p:nvPr/>
        </p:nvSpPr>
        <p:spPr>
          <a:xfrm flipH="false" flipV="false" rot="0">
            <a:off x="4937091" y="4758751"/>
            <a:ext cx="2841683" cy="932427"/>
          </a:xfrm>
          <a:custGeom>
            <a:avLst/>
            <a:gdLst/>
            <a:ahLst/>
            <a:cxnLst/>
            <a:rect r="r" b="b" t="t" l="l"/>
            <a:pathLst>
              <a:path h="932427" w="2841683">
                <a:moveTo>
                  <a:pt x="0" y="0"/>
                </a:moveTo>
                <a:lnTo>
                  <a:pt x="2841683" y="0"/>
                </a:lnTo>
                <a:lnTo>
                  <a:pt x="2841683" y="932427"/>
                </a:lnTo>
                <a:lnTo>
                  <a:pt x="0" y="932427"/>
                </a:lnTo>
                <a:lnTo>
                  <a:pt x="0" y="0"/>
                </a:lnTo>
                <a:close/>
              </a:path>
            </a:pathLst>
          </a:custGeom>
          <a:blipFill>
            <a:blip r:embed="rId10"/>
            <a:stretch>
              <a:fillRect l="0" t="0" r="0" b="0"/>
            </a:stretch>
          </a:blipFill>
        </p:spPr>
      </p:sp>
      <p:sp>
        <p:nvSpPr>
          <p:cNvPr name="Freeform 10" id="10"/>
          <p:cNvSpPr/>
          <p:nvPr/>
        </p:nvSpPr>
        <p:spPr>
          <a:xfrm flipH="false" flipV="false" rot="0">
            <a:off x="4886480" y="5790943"/>
            <a:ext cx="4602663" cy="1128395"/>
          </a:xfrm>
          <a:custGeom>
            <a:avLst/>
            <a:gdLst/>
            <a:ahLst/>
            <a:cxnLst/>
            <a:rect r="r" b="b" t="t" l="l"/>
            <a:pathLst>
              <a:path h="1128395" w="4602663">
                <a:moveTo>
                  <a:pt x="0" y="0"/>
                </a:moveTo>
                <a:lnTo>
                  <a:pt x="4602663" y="0"/>
                </a:lnTo>
                <a:lnTo>
                  <a:pt x="4602663" y="1128395"/>
                </a:lnTo>
                <a:lnTo>
                  <a:pt x="0" y="1128395"/>
                </a:lnTo>
                <a:lnTo>
                  <a:pt x="0" y="0"/>
                </a:lnTo>
                <a:close/>
              </a:path>
            </a:pathLst>
          </a:custGeom>
          <a:blipFill>
            <a:blip r:embed="rId11"/>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9810148" y="5143500"/>
            <a:ext cx="8477852" cy="5657039"/>
          </a:xfrm>
          <a:custGeom>
            <a:avLst/>
            <a:gdLst/>
            <a:ahLst/>
            <a:cxnLst/>
            <a:rect r="r" b="b" t="t" l="l"/>
            <a:pathLst>
              <a:path h="5657039" w="8477852">
                <a:moveTo>
                  <a:pt x="0" y="5657039"/>
                </a:moveTo>
                <a:lnTo>
                  <a:pt x="8477852" y="5657039"/>
                </a:lnTo>
                <a:lnTo>
                  <a:pt x="8477852" y="0"/>
                </a:lnTo>
                <a:lnTo>
                  <a:pt x="0" y="0"/>
                </a:lnTo>
                <a:lnTo>
                  <a:pt x="0" y="565703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1955874"/>
            <a:ext cx="10466491" cy="1035051"/>
          </a:xfrm>
          <a:prstGeom prst="rect">
            <a:avLst/>
          </a:prstGeom>
        </p:spPr>
        <p:txBody>
          <a:bodyPr anchor="t" rtlCol="false" tIns="0" lIns="0" bIns="0" rIns="0">
            <a:spAutoFit/>
          </a:bodyPr>
          <a:lstStyle/>
          <a:p>
            <a:pPr algn="l">
              <a:lnSpc>
                <a:spcPts val="7600"/>
              </a:lnSpc>
            </a:pPr>
            <a:r>
              <a:rPr lang="en-US" sz="8000" b="true">
                <a:solidFill>
                  <a:srgbClr val="1B1A17"/>
                </a:solidFill>
                <a:latin typeface="IBM Plex Sans Condensed Bold"/>
                <a:ea typeface="IBM Plex Sans Condensed Bold"/>
                <a:cs typeface="IBM Plex Sans Condensed Bold"/>
                <a:sym typeface="IBM Plex Sans Condensed Bold"/>
              </a:rPr>
              <a:t>3. MÔ TẢ DỮ LIỆU</a:t>
            </a:r>
          </a:p>
        </p:txBody>
      </p:sp>
      <p:sp>
        <p:nvSpPr>
          <p:cNvPr name="Freeform 4" id="4"/>
          <p:cNvSpPr/>
          <p:nvPr/>
        </p:nvSpPr>
        <p:spPr>
          <a:xfrm flipH="true" flipV="false" rot="0">
            <a:off x="-19050" y="0"/>
            <a:ext cx="2403281" cy="1961951"/>
          </a:xfrm>
          <a:custGeom>
            <a:avLst/>
            <a:gdLst/>
            <a:ahLst/>
            <a:cxnLst/>
            <a:rect r="r" b="b" t="t" l="l"/>
            <a:pathLst>
              <a:path h="1961951" w="2403281">
                <a:moveTo>
                  <a:pt x="2403281" y="0"/>
                </a:moveTo>
                <a:lnTo>
                  <a:pt x="0" y="0"/>
                </a:lnTo>
                <a:lnTo>
                  <a:pt x="0" y="1961951"/>
                </a:lnTo>
                <a:lnTo>
                  <a:pt x="2403281" y="1961951"/>
                </a:lnTo>
                <a:lnTo>
                  <a:pt x="240328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9050" y="0"/>
            <a:ext cx="2145705" cy="1751676"/>
          </a:xfrm>
          <a:custGeom>
            <a:avLst/>
            <a:gdLst/>
            <a:ahLst/>
            <a:cxnLst/>
            <a:rect r="r" b="b" t="t" l="l"/>
            <a:pathLst>
              <a:path h="1751676" w="2145705">
                <a:moveTo>
                  <a:pt x="2145705" y="0"/>
                </a:moveTo>
                <a:lnTo>
                  <a:pt x="0" y="0"/>
                </a:lnTo>
                <a:lnTo>
                  <a:pt x="0" y="1751676"/>
                </a:lnTo>
                <a:lnTo>
                  <a:pt x="2145705" y="1751676"/>
                </a:lnTo>
                <a:lnTo>
                  <a:pt x="214570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9687683" y="889112"/>
            <a:ext cx="5203918" cy="8508775"/>
          </a:xfrm>
          <a:custGeom>
            <a:avLst/>
            <a:gdLst/>
            <a:ahLst/>
            <a:cxnLst/>
            <a:rect r="r" b="b" t="t" l="l"/>
            <a:pathLst>
              <a:path h="8508775" w="5203918">
                <a:moveTo>
                  <a:pt x="0" y="0"/>
                </a:moveTo>
                <a:lnTo>
                  <a:pt x="5203917" y="0"/>
                </a:lnTo>
                <a:lnTo>
                  <a:pt x="5203917" y="8508776"/>
                </a:lnTo>
                <a:lnTo>
                  <a:pt x="0" y="8508776"/>
                </a:lnTo>
                <a:lnTo>
                  <a:pt x="0" y="0"/>
                </a:lnTo>
                <a:close/>
              </a:path>
            </a:pathLst>
          </a:custGeom>
          <a:blipFill>
            <a:blip r:embed="rId8"/>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9810148" y="5143500"/>
            <a:ext cx="8477852" cy="5657039"/>
          </a:xfrm>
          <a:custGeom>
            <a:avLst/>
            <a:gdLst/>
            <a:ahLst/>
            <a:cxnLst/>
            <a:rect r="r" b="b" t="t" l="l"/>
            <a:pathLst>
              <a:path h="5657039" w="8477852">
                <a:moveTo>
                  <a:pt x="0" y="5657039"/>
                </a:moveTo>
                <a:lnTo>
                  <a:pt x="8477852" y="5657039"/>
                </a:lnTo>
                <a:lnTo>
                  <a:pt x="8477852" y="0"/>
                </a:lnTo>
                <a:lnTo>
                  <a:pt x="0" y="0"/>
                </a:lnTo>
                <a:lnTo>
                  <a:pt x="0" y="565703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1955874"/>
            <a:ext cx="10466491" cy="1035051"/>
          </a:xfrm>
          <a:prstGeom prst="rect">
            <a:avLst/>
          </a:prstGeom>
        </p:spPr>
        <p:txBody>
          <a:bodyPr anchor="t" rtlCol="false" tIns="0" lIns="0" bIns="0" rIns="0">
            <a:spAutoFit/>
          </a:bodyPr>
          <a:lstStyle/>
          <a:p>
            <a:pPr algn="l">
              <a:lnSpc>
                <a:spcPts val="7600"/>
              </a:lnSpc>
            </a:pPr>
            <a:r>
              <a:rPr lang="en-US" sz="8000" b="true">
                <a:solidFill>
                  <a:srgbClr val="1B1A17"/>
                </a:solidFill>
                <a:latin typeface="IBM Plex Sans Condensed Bold"/>
                <a:ea typeface="IBM Plex Sans Condensed Bold"/>
                <a:cs typeface="IBM Plex Sans Condensed Bold"/>
                <a:sym typeface="IBM Plex Sans Condensed Bold"/>
              </a:rPr>
              <a:t>3. MÔ TẢ DỮ LIỆU</a:t>
            </a:r>
          </a:p>
        </p:txBody>
      </p:sp>
      <p:sp>
        <p:nvSpPr>
          <p:cNvPr name="Freeform 4" id="4"/>
          <p:cNvSpPr/>
          <p:nvPr/>
        </p:nvSpPr>
        <p:spPr>
          <a:xfrm flipH="true" flipV="false" rot="0">
            <a:off x="-19050" y="0"/>
            <a:ext cx="2403281" cy="1961951"/>
          </a:xfrm>
          <a:custGeom>
            <a:avLst/>
            <a:gdLst/>
            <a:ahLst/>
            <a:cxnLst/>
            <a:rect r="r" b="b" t="t" l="l"/>
            <a:pathLst>
              <a:path h="1961951" w="2403281">
                <a:moveTo>
                  <a:pt x="2403281" y="0"/>
                </a:moveTo>
                <a:lnTo>
                  <a:pt x="0" y="0"/>
                </a:lnTo>
                <a:lnTo>
                  <a:pt x="0" y="1961951"/>
                </a:lnTo>
                <a:lnTo>
                  <a:pt x="2403281" y="1961951"/>
                </a:lnTo>
                <a:lnTo>
                  <a:pt x="240328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9050" y="0"/>
            <a:ext cx="2145705" cy="1751676"/>
          </a:xfrm>
          <a:custGeom>
            <a:avLst/>
            <a:gdLst/>
            <a:ahLst/>
            <a:cxnLst/>
            <a:rect r="r" b="b" t="t" l="l"/>
            <a:pathLst>
              <a:path h="1751676" w="2145705">
                <a:moveTo>
                  <a:pt x="2145705" y="0"/>
                </a:moveTo>
                <a:lnTo>
                  <a:pt x="0" y="0"/>
                </a:lnTo>
                <a:lnTo>
                  <a:pt x="0" y="1751676"/>
                </a:lnTo>
                <a:lnTo>
                  <a:pt x="2145705" y="1751676"/>
                </a:lnTo>
                <a:lnTo>
                  <a:pt x="214570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9675521" y="1443960"/>
            <a:ext cx="6624227" cy="7399080"/>
          </a:xfrm>
          <a:custGeom>
            <a:avLst/>
            <a:gdLst/>
            <a:ahLst/>
            <a:cxnLst/>
            <a:rect r="r" b="b" t="t" l="l"/>
            <a:pathLst>
              <a:path h="7399080" w="6624227">
                <a:moveTo>
                  <a:pt x="0" y="0"/>
                </a:moveTo>
                <a:lnTo>
                  <a:pt x="6624227" y="0"/>
                </a:lnTo>
                <a:lnTo>
                  <a:pt x="6624227" y="7399080"/>
                </a:lnTo>
                <a:lnTo>
                  <a:pt x="0" y="7399080"/>
                </a:lnTo>
                <a:lnTo>
                  <a:pt x="0" y="0"/>
                </a:lnTo>
                <a:close/>
              </a:path>
            </a:pathLst>
          </a:custGeom>
          <a:blipFill>
            <a:blip r:embed="rId8"/>
            <a:stretch>
              <a:fillRect l="0" t="0" r="0" b="0"/>
            </a:stretch>
          </a:blipFill>
        </p:spPr>
      </p:sp>
      <p:sp>
        <p:nvSpPr>
          <p:cNvPr name="TextBox 7" id="7"/>
          <p:cNvSpPr txBox="true"/>
          <p:nvPr/>
        </p:nvSpPr>
        <p:spPr>
          <a:xfrm rot="0">
            <a:off x="1182591" y="3464434"/>
            <a:ext cx="5443389" cy="906780"/>
          </a:xfrm>
          <a:prstGeom prst="rect">
            <a:avLst/>
          </a:prstGeom>
        </p:spPr>
        <p:txBody>
          <a:bodyPr anchor="t" rtlCol="false" tIns="0" lIns="0" bIns="0" rIns="0">
            <a:spAutoFit/>
          </a:bodyPr>
          <a:lstStyle/>
          <a:p>
            <a:pPr algn="ctr">
              <a:lnSpc>
                <a:spcPts val="3660"/>
              </a:lnSpc>
            </a:pPr>
            <a:r>
              <a:rPr lang="en-US" sz="3000">
                <a:solidFill>
                  <a:srgbClr val="1B1A17"/>
                </a:solidFill>
                <a:latin typeface="IBM Plex Sans"/>
                <a:ea typeface="IBM Plex Sans"/>
                <a:cs typeface="IBM Plex Sans"/>
                <a:sym typeface="IBM Plex Sans"/>
              </a:rPr>
              <a:t>Sau khi loại bỏ những thuộc tính</a:t>
            </a:r>
          </a:p>
          <a:p>
            <a:pPr algn="l">
              <a:lnSpc>
                <a:spcPts val="3660"/>
              </a:lnSpc>
              <a:spcBef>
                <a:spcPct val="0"/>
              </a:spcBef>
            </a:pPr>
            <a:r>
              <a:rPr lang="en-US" sz="3000">
                <a:solidFill>
                  <a:srgbClr val="1B1A17"/>
                </a:solidFill>
                <a:latin typeface="IBM Plex Sans"/>
                <a:ea typeface="IBM Plex Sans"/>
                <a:cs typeface="IBM Plex Sans"/>
                <a:sym typeface="IBM Plex Sans"/>
              </a:rPr>
              <a:t>không cần thiết: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588464" y="1751676"/>
            <a:ext cx="9111071" cy="6426959"/>
          </a:xfrm>
          <a:custGeom>
            <a:avLst/>
            <a:gdLst/>
            <a:ahLst/>
            <a:cxnLst/>
            <a:rect r="r" b="b" t="t" l="l"/>
            <a:pathLst>
              <a:path h="6426959" w="9111071">
                <a:moveTo>
                  <a:pt x="0" y="0"/>
                </a:moveTo>
                <a:lnTo>
                  <a:pt x="9111072" y="0"/>
                </a:lnTo>
                <a:lnTo>
                  <a:pt x="9111072" y="6426958"/>
                </a:lnTo>
                <a:lnTo>
                  <a:pt x="0" y="6426958"/>
                </a:lnTo>
                <a:lnTo>
                  <a:pt x="0" y="0"/>
                </a:lnTo>
                <a:close/>
              </a:path>
            </a:pathLst>
          </a:custGeom>
          <a:blipFill>
            <a:blip r:embed="rId2"/>
            <a:stretch>
              <a:fillRect l="0" t="0" r="0" b="0"/>
            </a:stretch>
          </a:blipFill>
        </p:spPr>
      </p:sp>
      <p:sp>
        <p:nvSpPr>
          <p:cNvPr name="Freeform 3" id="3"/>
          <p:cNvSpPr/>
          <p:nvPr/>
        </p:nvSpPr>
        <p:spPr>
          <a:xfrm flipH="false" flipV="true" rot="0">
            <a:off x="9810148" y="5143500"/>
            <a:ext cx="8477852" cy="5657039"/>
          </a:xfrm>
          <a:custGeom>
            <a:avLst/>
            <a:gdLst/>
            <a:ahLst/>
            <a:cxnLst/>
            <a:rect r="r" b="b" t="t" l="l"/>
            <a:pathLst>
              <a:path h="5657039" w="8477852">
                <a:moveTo>
                  <a:pt x="0" y="5657039"/>
                </a:moveTo>
                <a:lnTo>
                  <a:pt x="8477852" y="5657039"/>
                </a:lnTo>
                <a:lnTo>
                  <a:pt x="8477852" y="0"/>
                </a:lnTo>
                <a:lnTo>
                  <a:pt x="0" y="0"/>
                </a:lnTo>
                <a:lnTo>
                  <a:pt x="0" y="5657039"/>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9050" y="0"/>
            <a:ext cx="2403281" cy="1961951"/>
          </a:xfrm>
          <a:custGeom>
            <a:avLst/>
            <a:gdLst/>
            <a:ahLst/>
            <a:cxnLst/>
            <a:rect r="r" b="b" t="t" l="l"/>
            <a:pathLst>
              <a:path h="1961951" w="2403281">
                <a:moveTo>
                  <a:pt x="2403281" y="0"/>
                </a:moveTo>
                <a:lnTo>
                  <a:pt x="0" y="0"/>
                </a:lnTo>
                <a:lnTo>
                  <a:pt x="0" y="1961951"/>
                </a:lnTo>
                <a:lnTo>
                  <a:pt x="2403281" y="1961951"/>
                </a:lnTo>
                <a:lnTo>
                  <a:pt x="2403281"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true" flipV="false" rot="0">
            <a:off x="-19050" y="0"/>
            <a:ext cx="2145705" cy="1751676"/>
          </a:xfrm>
          <a:custGeom>
            <a:avLst/>
            <a:gdLst/>
            <a:ahLst/>
            <a:cxnLst/>
            <a:rect r="r" b="b" t="t" l="l"/>
            <a:pathLst>
              <a:path h="1751676" w="2145705">
                <a:moveTo>
                  <a:pt x="2145705" y="0"/>
                </a:moveTo>
                <a:lnTo>
                  <a:pt x="0" y="0"/>
                </a:lnTo>
                <a:lnTo>
                  <a:pt x="0" y="1751676"/>
                </a:lnTo>
                <a:lnTo>
                  <a:pt x="2145705" y="1751676"/>
                </a:lnTo>
                <a:lnTo>
                  <a:pt x="2145705"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664824" y="1787563"/>
            <a:ext cx="8958353" cy="6711874"/>
          </a:xfrm>
          <a:custGeom>
            <a:avLst/>
            <a:gdLst/>
            <a:ahLst/>
            <a:cxnLst/>
            <a:rect r="r" b="b" t="t" l="l"/>
            <a:pathLst>
              <a:path h="6711874" w="8958353">
                <a:moveTo>
                  <a:pt x="0" y="0"/>
                </a:moveTo>
                <a:lnTo>
                  <a:pt x="8958352" y="0"/>
                </a:lnTo>
                <a:lnTo>
                  <a:pt x="8958352" y="6711874"/>
                </a:lnTo>
                <a:lnTo>
                  <a:pt x="0" y="6711874"/>
                </a:lnTo>
                <a:lnTo>
                  <a:pt x="0" y="0"/>
                </a:lnTo>
                <a:close/>
              </a:path>
            </a:pathLst>
          </a:custGeom>
          <a:blipFill>
            <a:blip r:embed="rId2"/>
            <a:stretch>
              <a:fillRect l="0" t="0" r="0" b="0"/>
            </a:stretch>
          </a:blipFill>
        </p:spPr>
      </p:sp>
      <p:sp>
        <p:nvSpPr>
          <p:cNvPr name="Freeform 3" id="3"/>
          <p:cNvSpPr/>
          <p:nvPr/>
        </p:nvSpPr>
        <p:spPr>
          <a:xfrm flipH="false" flipV="true" rot="0">
            <a:off x="9810148" y="5143500"/>
            <a:ext cx="8477852" cy="5657039"/>
          </a:xfrm>
          <a:custGeom>
            <a:avLst/>
            <a:gdLst/>
            <a:ahLst/>
            <a:cxnLst/>
            <a:rect r="r" b="b" t="t" l="l"/>
            <a:pathLst>
              <a:path h="5657039" w="8477852">
                <a:moveTo>
                  <a:pt x="0" y="5657039"/>
                </a:moveTo>
                <a:lnTo>
                  <a:pt x="8477852" y="5657039"/>
                </a:lnTo>
                <a:lnTo>
                  <a:pt x="8477852" y="0"/>
                </a:lnTo>
                <a:lnTo>
                  <a:pt x="0" y="0"/>
                </a:lnTo>
                <a:lnTo>
                  <a:pt x="0" y="5657039"/>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9050" y="0"/>
            <a:ext cx="2403281" cy="1961951"/>
          </a:xfrm>
          <a:custGeom>
            <a:avLst/>
            <a:gdLst/>
            <a:ahLst/>
            <a:cxnLst/>
            <a:rect r="r" b="b" t="t" l="l"/>
            <a:pathLst>
              <a:path h="1961951" w="2403281">
                <a:moveTo>
                  <a:pt x="2403281" y="0"/>
                </a:moveTo>
                <a:lnTo>
                  <a:pt x="0" y="0"/>
                </a:lnTo>
                <a:lnTo>
                  <a:pt x="0" y="1961951"/>
                </a:lnTo>
                <a:lnTo>
                  <a:pt x="2403281" y="1961951"/>
                </a:lnTo>
                <a:lnTo>
                  <a:pt x="2403281"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true" flipV="false" rot="0">
            <a:off x="-19050" y="0"/>
            <a:ext cx="2145705" cy="1751676"/>
          </a:xfrm>
          <a:custGeom>
            <a:avLst/>
            <a:gdLst/>
            <a:ahLst/>
            <a:cxnLst/>
            <a:rect r="r" b="b" t="t" l="l"/>
            <a:pathLst>
              <a:path h="1751676" w="2145705">
                <a:moveTo>
                  <a:pt x="2145705" y="0"/>
                </a:moveTo>
                <a:lnTo>
                  <a:pt x="0" y="0"/>
                </a:lnTo>
                <a:lnTo>
                  <a:pt x="0" y="1751676"/>
                </a:lnTo>
                <a:lnTo>
                  <a:pt x="2145705" y="1751676"/>
                </a:lnTo>
                <a:lnTo>
                  <a:pt x="2145705"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309398" y="2303171"/>
            <a:ext cx="9669204" cy="5680658"/>
          </a:xfrm>
          <a:custGeom>
            <a:avLst/>
            <a:gdLst/>
            <a:ahLst/>
            <a:cxnLst/>
            <a:rect r="r" b="b" t="t" l="l"/>
            <a:pathLst>
              <a:path h="5680658" w="9669204">
                <a:moveTo>
                  <a:pt x="0" y="0"/>
                </a:moveTo>
                <a:lnTo>
                  <a:pt x="9669204" y="0"/>
                </a:lnTo>
                <a:lnTo>
                  <a:pt x="9669204" y="5680658"/>
                </a:lnTo>
                <a:lnTo>
                  <a:pt x="0" y="5680658"/>
                </a:lnTo>
                <a:lnTo>
                  <a:pt x="0" y="0"/>
                </a:lnTo>
                <a:close/>
              </a:path>
            </a:pathLst>
          </a:custGeom>
          <a:blipFill>
            <a:blip r:embed="rId2"/>
            <a:stretch>
              <a:fillRect l="0" t="0" r="0" b="0"/>
            </a:stretch>
          </a:blipFill>
        </p:spPr>
      </p:sp>
      <p:sp>
        <p:nvSpPr>
          <p:cNvPr name="Freeform 3" id="3"/>
          <p:cNvSpPr/>
          <p:nvPr/>
        </p:nvSpPr>
        <p:spPr>
          <a:xfrm flipH="false" flipV="true" rot="0">
            <a:off x="9810148" y="5143500"/>
            <a:ext cx="8477852" cy="5657039"/>
          </a:xfrm>
          <a:custGeom>
            <a:avLst/>
            <a:gdLst/>
            <a:ahLst/>
            <a:cxnLst/>
            <a:rect r="r" b="b" t="t" l="l"/>
            <a:pathLst>
              <a:path h="5657039" w="8477852">
                <a:moveTo>
                  <a:pt x="0" y="5657039"/>
                </a:moveTo>
                <a:lnTo>
                  <a:pt x="8477852" y="5657039"/>
                </a:lnTo>
                <a:lnTo>
                  <a:pt x="8477852" y="0"/>
                </a:lnTo>
                <a:lnTo>
                  <a:pt x="0" y="0"/>
                </a:lnTo>
                <a:lnTo>
                  <a:pt x="0" y="5657039"/>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9050" y="0"/>
            <a:ext cx="2403281" cy="1961951"/>
          </a:xfrm>
          <a:custGeom>
            <a:avLst/>
            <a:gdLst/>
            <a:ahLst/>
            <a:cxnLst/>
            <a:rect r="r" b="b" t="t" l="l"/>
            <a:pathLst>
              <a:path h="1961951" w="2403281">
                <a:moveTo>
                  <a:pt x="2403281" y="0"/>
                </a:moveTo>
                <a:lnTo>
                  <a:pt x="0" y="0"/>
                </a:lnTo>
                <a:lnTo>
                  <a:pt x="0" y="1961951"/>
                </a:lnTo>
                <a:lnTo>
                  <a:pt x="2403281" y="1961951"/>
                </a:lnTo>
                <a:lnTo>
                  <a:pt x="2403281"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true" flipV="false" rot="0">
            <a:off x="-19050" y="0"/>
            <a:ext cx="2145705" cy="1751676"/>
          </a:xfrm>
          <a:custGeom>
            <a:avLst/>
            <a:gdLst/>
            <a:ahLst/>
            <a:cxnLst/>
            <a:rect r="r" b="b" t="t" l="l"/>
            <a:pathLst>
              <a:path h="1751676" w="2145705">
                <a:moveTo>
                  <a:pt x="2145705" y="0"/>
                </a:moveTo>
                <a:lnTo>
                  <a:pt x="0" y="0"/>
                </a:lnTo>
                <a:lnTo>
                  <a:pt x="0" y="1751676"/>
                </a:lnTo>
                <a:lnTo>
                  <a:pt x="2145705" y="1751676"/>
                </a:lnTo>
                <a:lnTo>
                  <a:pt x="2145705"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461869" y="1371648"/>
            <a:ext cx="9364262" cy="6917848"/>
          </a:xfrm>
          <a:custGeom>
            <a:avLst/>
            <a:gdLst/>
            <a:ahLst/>
            <a:cxnLst/>
            <a:rect r="r" b="b" t="t" l="l"/>
            <a:pathLst>
              <a:path h="6917848" w="9364262">
                <a:moveTo>
                  <a:pt x="0" y="0"/>
                </a:moveTo>
                <a:lnTo>
                  <a:pt x="9364262" y="0"/>
                </a:lnTo>
                <a:lnTo>
                  <a:pt x="9364262" y="6917849"/>
                </a:lnTo>
                <a:lnTo>
                  <a:pt x="0" y="6917849"/>
                </a:lnTo>
                <a:lnTo>
                  <a:pt x="0" y="0"/>
                </a:lnTo>
                <a:close/>
              </a:path>
            </a:pathLst>
          </a:custGeom>
          <a:blipFill>
            <a:blip r:embed="rId2"/>
            <a:stretch>
              <a:fillRect l="0" t="0" r="0" b="0"/>
            </a:stretch>
          </a:blipFill>
        </p:spPr>
      </p:sp>
      <p:sp>
        <p:nvSpPr>
          <p:cNvPr name="Freeform 3" id="3"/>
          <p:cNvSpPr/>
          <p:nvPr/>
        </p:nvSpPr>
        <p:spPr>
          <a:xfrm flipH="false" flipV="true" rot="0">
            <a:off x="9810148" y="5143500"/>
            <a:ext cx="8477852" cy="5657039"/>
          </a:xfrm>
          <a:custGeom>
            <a:avLst/>
            <a:gdLst/>
            <a:ahLst/>
            <a:cxnLst/>
            <a:rect r="r" b="b" t="t" l="l"/>
            <a:pathLst>
              <a:path h="5657039" w="8477852">
                <a:moveTo>
                  <a:pt x="0" y="5657039"/>
                </a:moveTo>
                <a:lnTo>
                  <a:pt x="8477852" y="5657039"/>
                </a:lnTo>
                <a:lnTo>
                  <a:pt x="8477852" y="0"/>
                </a:lnTo>
                <a:lnTo>
                  <a:pt x="0" y="0"/>
                </a:lnTo>
                <a:lnTo>
                  <a:pt x="0" y="5657039"/>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9050" y="0"/>
            <a:ext cx="2403281" cy="1961951"/>
          </a:xfrm>
          <a:custGeom>
            <a:avLst/>
            <a:gdLst/>
            <a:ahLst/>
            <a:cxnLst/>
            <a:rect r="r" b="b" t="t" l="l"/>
            <a:pathLst>
              <a:path h="1961951" w="2403281">
                <a:moveTo>
                  <a:pt x="2403281" y="0"/>
                </a:moveTo>
                <a:lnTo>
                  <a:pt x="0" y="0"/>
                </a:lnTo>
                <a:lnTo>
                  <a:pt x="0" y="1961951"/>
                </a:lnTo>
                <a:lnTo>
                  <a:pt x="2403281" y="1961951"/>
                </a:lnTo>
                <a:lnTo>
                  <a:pt x="2403281"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true" flipV="false" rot="0">
            <a:off x="-19050" y="0"/>
            <a:ext cx="2145705" cy="1751676"/>
          </a:xfrm>
          <a:custGeom>
            <a:avLst/>
            <a:gdLst/>
            <a:ahLst/>
            <a:cxnLst/>
            <a:rect r="r" b="b" t="t" l="l"/>
            <a:pathLst>
              <a:path h="1751676" w="2145705">
                <a:moveTo>
                  <a:pt x="2145705" y="0"/>
                </a:moveTo>
                <a:lnTo>
                  <a:pt x="0" y="0"/>
                </a:lnTo>
                <a:lnTo>
                  <a:pt x="0" y="1751676"/>
                </a:lnTo>
                <a:lnTo>
                  <a:pt x="2145705" y="1751676"/>
                </a:lnTo>
                <a:lnTo>
                  <a:pt x="2145705"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19050" y="0"/>
            <a:ext cx="2403281" cy="1961951"/>
          </a:xfrm>
          <a:custGeom>
            <a:avLst/>
            <a:gdLst/>
            <a:ahLst/>
            <a:cxnLst/>
            <a:rect r="r" b="b" t="t" l="l"/>
            <a:pathLst>
              <a:path h="1961951" w="2403281">
                <a:moveTo>
                  <a:pt x="2403281" y="0"/>
                </a:moveTo>
                <a:lnTo>
                  <a:pt x="0" y="0"/>
                </a:lnTo>
                <a:lnTo>
                  <a:pt x="0" y="1961951"/>
                </a:lnTo>
                <a:lnTo>
                  <a:pt x="2403281" y="1961951"/>
                </a:lnTo>
                <a:lnTo>
                  <a:pt x="240328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9050" y="0"/>
            <a:ext cx="2145705" cy="1751676"/>
          </a:xfrm>
          <a:custGeom>
            <a:avLst/>
            <a:gdLst/>
            <a:ahLst/>
            <a:cxnLst/>
            <a:rect r="r" b="b" t="t" l="l"/>
            <a:pathLst>
              <a:path h="1751676" w="2145705">
                <a:moveTo>
                  <a:pt x="2145705" y="0"/>
                </a:moveTo>
                <a:lnTo>
                  <a:pt x="0" y="0"/>
                </a:lnTo>
                <a:lnTo>
                  <a:pt x="0" y="1751676"/>
                </a:lnTo>
                <a:lnTo>
                  <a:pt x="2145705" y="1751676"/>
                </a:lnTo>
                <a:lnTo>
                  <a:pt x="214570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126655" y="2205361"/>
            <a:ext cx="6596967" cy="5766659"/>
          </a:xfrm>
          <a:custGeom>
            <a:avLst/>
            <a:gdLst/>
            <a:ahLst/>
            <a:cxnLst/>
            <a:rect r="r" b="b" t="t" l="l"/>
            <a:pathLst>
              <a:path h="5766659" w="6596967">
                <a:moveTo>
                  <a:pt x="0" y="0"/>
                </a:moveTo>
                <a:lnTo>
                  <a:pt x="6596967" y="0"/>
                </a:lnTo>
                <a:lnTo>
                  <a:pt x="6596967" y="5766659"/>
                </a:lnTo>
                <a:lnTo>
                  <a:pt x="0" y="5766659"/>
                </a:lnTo>
                <a:lnTo>
                  <a:pt x="0" y="0"/>
                </a:lnTo>
                <a:close/>
              </a:path>
            </a:pathLst>
          </a:custGeom>
          <a:blipFill>
            <a:blip r:embed="rId6"/>
            <a:stretch>
              <a:fillRect l="0" t="0" r="0" b="0"/>
            </a:stretch>
          </a:blipFill>
        </p:spPr>
      </p:sp>
      <p:sp>
        <p:nvSpPr>
          <p:cNvPr name="Freeform 5" id="5"/>
          <p:cNvSpPr/>
          <p:nvPr/>
        </p:nvSpPr>
        <p:spPr>
          <a:xfrm flipH="false" flipV="false" rot="0">
            <a:off x="9001532" y="2275115"/>
            <a:ext cx="6561284" cy="5736769"/>
          </a:xfrm>
          <a:custGeom>
            <a:avLst/>
            <a:gdLst/>
            <a:ahLst/>
            <a:cxnLst/>
            <a:rect r="r" b="b" t="t" l="l"/>
            <a:pathLst>
              <a:path h="5736769" w="6561284">
                <a:moveTo>
                  <a:pt x="0" y="0"/>
                </a:moveTo>
                <a:lnTo>
                  <a:pt x="6561285" y="0"/>
                </a:lnTo>
                <a:lnTo>
                  <a:pt x="6561285" y="5736770"/>
                </a:lnTo>
                <a:lnTo>
                  <a:pt x="0" y="5736770"/>
                </a:lnTo>
                <a:lnTo>
                  <a:pt x="0" y="0"/>
                </a:lnTo>
                <a:close/>
              </a:path>
            </a:pathLst>
          </a:custGeom>
          <a:blipFill>
            <a:blip r:embed="rId7"/>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1393518"/>
            <a:ext cx="6545714" cy="4367776"/>
          </a:xfrm>
          <a:custGeom>
            <a:avLst/>
            <a:gdLst/>
            <a:ahLst/>
            <a:cxnLst/>
            <a:rect r="r" b="b" t="t" l="l"/>
            <a:pathLst>
              <a:path h="4367776" w="6545714">
                <a:moveTo>
                  <a:pt x="6545714" y="0"/>
                </a:moveTo>
                <a:lnTo>
                  <a:pt x="0" y="0"/>
                </a:lnTo>
                <a:lnTo>
                  <a:pt x="0" y="4367777"/>
                </a:lnTo>
                <a:lnTo>
                  <a:pt x="6545714" y="4367777"/>
                </a:lnTo>
                <a:lnTo>
                  <a:pt x="654571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742286" y="-903658"/>
            <a:ext cx="6545714" cy="4367776"/>
          </a:xfrm>
          <a:custGeom>
            <a:avLst/>
            <a:gdLst/>
            <a:ahLst/>
            <a:cxnLst/>
            <a:rect r="r" b="b" t="t" l="l"/>
            <a:pathLst>
              <a:path h="4367776" w="6545714">
                <a:moveTo>
                  <a:pt x="0" y="0"/>
                </a:moveTo>
                <a:lnTo>
                  <a:pt x="6545714" y="0"/>
                </a:lnTo>
                <a:lnTo>
                  <a:pt x="6545714" y="4367776"/>
                </a:lnTo>
                <a:lnTo>
                  <a:pt x="0" y="43677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851701" y="2851197"/>
            <a:ext cx="6584599" cy="5764372"/>
          </a:xfrm>
          <a:custGeom>
            <a:avLst/>
            <a:gdLst/>
            <a:ahLst/>
            <a:cxnLst/>
            <a:rect r="r" b="b" t="t" l="l"/>
            <a:pathLst>
              <a:path h="5764372" w="6584599">
                <a:moveTo>
                  <a:pt x="0" y="0"/>
                </a:moveTo>
                <a:lnTo>
                  <a:pt x="6584598" y="0"/>
                </a:lnTo>
                <a:lnTo>
                  <a:pt x="6584598" y="5764372"/>
                </a:lnTo>
                <a:lnTo>
                  <a:pt x="0" y="5764372"/>
                </a:lnTo>
                <a:lnTo>
                  <a:pt x="0" y="0"/>
                </a:lnTo>
                <a:close/>
              </a:path>
            </a:pathLst>
          </a:custGeom>
          <a:blipFill>
            <a:blip r:embed="rId4"/>
            <a:stretch>
              <a:fillRect l="0" t="0" r="0" b="0"/>
            </a:stretch>
          </a:blipFill>
        </p:spPr>
      </p:sp>
      <p:sp>
        <p:nvSpPr>
          <p:cNvPr name="TextBox 5" id="5"/>
          <p:cNvSpPr txBox="true"/>
          <p:nvPr/>
        </p:nvSpPr>
        <p:spPr>
          <a:xfrm rot="0">
            <a:off x="0" y="1622996"/>
            <a:ext cx="11149268" cy="1035051"/>
          </a:xfrm>
          <a:prstGeom prst="rect">
            <a:avLst/>
          </a:prstGeom>
        </p:spPr>
        <p:txBody>
          <a:bodyPr anchor="t" rtlCol="false" tIns="0" lIns="0" bIns="0" rIns="0">
            <a:spAutoFit/>
          </a:bodyPr>
          <a:lstStyle/>
          <a:p>
            <a:pPr algn="ctr">
              <a:lnSpc>
                <a:spcPts val="7600"/>
              </a:lnSpc>
            </a:pPr>
            <a:r>
              <a:rPr lang="en-US" b="true" sz="8000">
                <a:solidFill>
                  <a:srgbClr val="1B1A17"/>
                </a:solidFill>
                <a:latin typeface="IBM Plex Sans Condensed Bold"/>
                <a:ea typeface="IBM Plex Sans Condensed Bold"/>
                <a:cs typeface="IBM Plex Sans Condensed Bold"/>
                <a:sym typeface="IBM Plex Sans Condensed Bold"/>
              </a:rPr>
              <a:t>4. CÀI ĐẶT MÔ HÌNH</a:t>
            </a:r>
          </a:p>
        </p:txBody>
      </p:sp>
      <p:sp>
        <p:nvSpPr>
          <p:cNvPr name="TextBox 6" id="6"/>
          <p:cNvSpPr txBox="true"/>
          <p:nvPr/>
        </p:nvSpPr>
        <p:spPr>
          <a:xfrm rot="0">
            <a:off x="5266082" y="8808720"/>
            <a:ext cx="7755836" cy="449580"/>
          </a:xfrm>
          <a:prstGeom prst="rect">
            <a:avLst/>
          </a:prstGeom>
        </p:spPr>
        <p:txBody>
          <a:bodyPr anchor="t" rtlCol="false" tIns="0" lIns="0" bIns="0" rIns="0">
            <a:spAutoFit/>
          </a:bodyPr>
          <a:lstStyle/>
          <a:p>
            <a:pPr algn="ctr">
              <a:lnSpc>
                <a:spcPts val="3660"/>
              </a:lnSpc>
            </a:pPr>
            <a:r>
              <a:rPr lang="en-US" sz="3000">
                <a:solidFill>
                  <a:srgbClr val="1B1A17"/>
                </a:solidFill>
                <a:latin typeface="IBM Plex Sans"/>
                <a:ea typeface="IBM Plex Sans"/>
                <a:cs typeface="IBM Plex Sans"/>
                <a:sym typeface="IBM Plex Sans"/>
              </a:rPr>
              <a:t>Random Forest</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1393518"/>
            <a:ext cx="6545714" cy="4367776"/>
          </a:xfrm>
          <a:custGeom>
            <a:avLst/>
            <a:gdLst/>
            <a:ahLst/>
            <a:cxnLst/>
            <a:rect r="r" b="b" t="t" l="l"/>
            <a:pathLst>
              <a:path h="4367776" w="6545714">
                <a:moveTo>
                  <a:pt x="6545714" y="0"/>
                </a:moveTo>
                <a:lnTo>
                  <a:pt x="0" y="0"/>
                </a:lnTo>
                <a:lnTo>
                  <a:pt x="0" y="4367777"/>
                </a:lnTo>
                <a:lnTo>
                  <a:pt x="6545714" y="4367777"/>
                </a:lnTo>
                <a:lnTo>
                  <a:pt x="654571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742286" y="-903658"/>
            <a:ext cx="6545714" cy="4367776"/>
          </a:xfrm>
          <a:custGeom>
            <a:avLst/>
            <a:gdLst/>
            <a:ahLst/>
            <a:cxnLst/>
            <a:rect r="r" b="b" t="t" l="l"/>
            <a:pathLst>
              <a:path h="4367776" w="6545714">
                <a:moveTo>
                  <a:pt x="0" y="0"/>
                </a:moveTo>
                <a:lnTo>
                  <a:pt x="6545714" y="0"/>
                </a:lnTo>
                <a:lnTo>
                  <a:pt x="6545714" y="4367776"/>
                </a:lnTo>
                <a:lnTo>
                  <a:pt x="0" y="43677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469946" y="2891873"/>
            <a:ext cx="7348109" cy="5683020"/>
          </a:xfrm>
          <a:custGeom>
            <a:avLst/>
            <a:gdLst/>
            <a:ahLst/>
            <a:cxnLst/>
            <a:rect r="r" b="b" t="t" l="l"/>
            <a:pathLst>
              <a:path h="5683020" w="7348109">
                <a:moveTo>
                  <a:pt x="0" y="0"/>
                </a:moveTo>
                <a:lnTo>
                  <a:pt x="7348108" y="0"/>
                </a:lnTo>
                <a:lnTo>
                  <a:pt x="7348108" y="5683020"/>
                </a:lnTo>
                <a:lnTo>
                  <a:pt x="0" y="5683020"/>
                </a:lnTo>
                <a:lnTo>
                  <a:pt x="0" y="0"/>
                </a:lnTo>
                <a:close/>
              </a:path>
            </a:pathLst>
          </a:custGeom>
          <a:blipFill>
            <a:blip r:embed="rId4"/>
            <a:stretch>
              <a:fillRect l="0" t="0" r="0" b="0"/>
            </a:stretch>
          </a:blipFill>
        </p:spPr>
      </p:sp>
      <p:sp>
        <p:nvSpPr>
          <p:cNvPr name="TextBox 5" id="5"/>
          <p:cNvSpPr txBox="true"/>
          <p:nvPr/>
        </p:nvSpPr>
        <p:spPr>
          <a:xfrm rot="0">
            <a:off x="0" y="1622996"/>
            <a:ext cx="11149268" cy="1035051"/>
          </a:xfrm>
          <a:prstGeom prst="rect">
            <a:avLst/>
          </a:prstGeom>
        </p:spPr>
        <p:txBody>
          <a:bodyPr anchor="t" rtlCol="false" tIns="0" lIns="0" bIns="0" rIns="0">
            <a:spAutoFit/>
          </a:bodyPr>
          <a:lstStyle/>
          <a:p>
            <a:pPr algn="ctr">
              <a:lnSpc>
                <a:spcPts val="7600"/>
              </a:lnSpc>
            </a:pPr>
            <a:r>
              <a:rPr lang="en-US" b="true" sz="8000">
                <a:solidFill>
                  <a:srgbClr val="1B1A17"/>
                </a:solidFill>
                <a:latin typeface="IBM Plex Sans Condensed Bold"/>
                <a:ea typeface="IBM Plex Sans Condensed Bold"/>
                <a:cs typeface="IBM Plex Sans Condensed Bold"/>
                <a:sym typeface="IBM Plex Sans Condensed Bold"/>
              </a:rPr>
              <a:t>4. CÀI ĐẶT MÔ HÌNH</a:t>
            </a:r>
          </a:p>
        </p:txBody>
      </p:sp>
      <p:sp>
        <p:nvSpPr>
          <p:cNvPr name="TextBox 6" id="6"/>
          <p:cNvSpPr txBox="true"/>
          <p:nvPr/>
        </p:nvSpPr>
        <p:spPr>
          <a:xfrm rot="0">
            <a:off x="5266082" y="8808720"/>
            <a:ext cx="7755836" cy="449580"/>
          </a:xfrm>
          <a:prstGeom prst="rect">
            <a:avLst/>
          </a:prstGeom>
        </p:spPr>
        <p:txBody>
          <a:bodyPr anchor="t" rtlCol="false" tIns="0" lIns="0" bIns="0" rIns="0">
            <a:spAutoFit/>
          </a:bodyPr>
          <a:lstStyle/>
          <a:p>
            <a:pPr algn="ctr">
              <a:lnSpc>
                <a:spcPts val="3660"/>
              </a:lnSpc>
            </a:pPr>
            <a:r>
              <a:rPr lang="en-US" sz="3000">
                <a:solidFill>
                  <a:srgbClr val="1B1A17"/>
                </a:solidFill>
                <a:latin typeface="IBM Plex Sans"/>
                <a:ea typeface="IBM Plex Sans"/>
                <a:cs typeface="IBM Plex Sans"/>
                <a:sym typeface="IBM Plex Sans"/>
              </a:rPr>
              <a:t>KNN</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9810148" y="5143500"/>
            <a:ext cx="8477852" cy="5657039"/>
          </a:xfrm>
          <a:custGeom>
            <a:avLst/>
            <a:gdLst/>
            <a:ahLst/>
            <a:cxnLst/>
            <a:rect r="r" b="b" t="t" l="l"/>
            <a:pathLst>
              <a:path h="5657039" w="8477852">
                <a:moveTo>
                  <a:pt x="0" y="5657039"/>
                </a:moveTo>
                <a:lnTo>
                  <a:pt x="8477852" y="5657039"/>
                </a:lnTo>
                <a:lnTo>
                  <a:pt x="8477852" y="0"/>
                </a:lnTo>
                <a:lnTo>
                  <a:pt x="0" y="0"/>
                </a:lnTo>
                <a:lnTo>
                  <a:pt x="0" y="565703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9050" y="8325049"/>
            <a:ext cx="2403281" cy="1961951"/>
          </a:xfrm>
          <a:custGeom>
            <a:avLst/>
            <a:gdLst/>
            <a:ahLst/>
            <a:cxnLst/>
            <a:rect r="r" b="b" t="t" l="l"/>
            <a:pathLst>
              <a:path h="1961951" w="2403281">
                <a:moveTo>
                  <a:pt x="2403281" y="1961951"/>
                </a:moveTo>
                <a:lnTo>
                  <a:pt x="0" y="1961951"/>
                </a:lnTo>
                <a:lnTo>
                  <a:pt x="0" y="0"/>
                </a:lnTo>
                <a:lnTo>
                  <a:pt x="2403281" y="0"/>
                </a:lnTo>
                <a:lnTo>
                  <a:pt x="2403281" y="1961951"/>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true" rot="0">
            <a:off x="-19050" y="8535324"/>
            <a:ext cx="2145705" cy="1751676"/>
          </a:xfrm>
          <a:custGeom>
            <a:avLst/>
            <a:gdLst/>
            <a:ahLst/>
            <a:cxnLst/>
            <a:rect r="r" b="b" t="t" l="l"/>
            <a:pathLst>
              <a:path h="1751676" w="2145705">
                <a:moveTo>
                  <a:pt x="2145705" y="1751676"/>
                </a:moveTo>
                <a:lnTo>
                  <a:pt x="0" y="1751676"/>
                </a:lnTo>
                <a:lnTo>
                  <a:pt x="0" y="0"/>
                </a:lnTo>
                <a:lnTo>
                  <a:pt x="2145705" y="0"/>
                </a:lnTo>
                <a:lnTo>
                  <a:pt x="2145705" y="1751676"/>
                </a:lnTo>
                <a:close/>
              </a:path>
            </a:pathLst>
          </a:custGeom>
          <a:blipFill>
            <a:blip r:embed="rId6">
              <a:extLst>
                <a:ext uri="{96DAC541-7B7A-43D3-8B79-37D633B846F1}">
                  <asvg:svgBlip xmlns:asvg="http://schemas.microsoft.com/office/drawing/2016/SVG/main" r:embed="rId7"/>
                </a:ext>
              </a:extLst>
            </a:blip>
            <a:stretch>
              <a:fillRect l="0" t="0" r="0" b="0"/>
            </a:stretch>
          </a:blipFill>
        </p:spPr>
      </p:sp>
      <p:graphicFrame>
        <p:nvGraphicFramePr>
          <p:cNvPr name="Table 5" id="5"/>
          <p:cNvGraphicFramePr>
            <a:graphicFrameLocks noGrp="true"/>
          </p:cNvGraphicFramePr>
          <p:nvPr/>
        </p:nvGraphicFramePr>
        <p:xfrm>
          <a:off x="3465722" y="3313776"/>
          <a:ext cx="11356557" cy="4658244"/>
        </p:xfrm>
        <a:graphic>
          <a:graphicData uri="http://schemas.openxmlformats.org/drawingml/2006/table">
            <a:tbl>
              <a:tblPr/>
              <a:tblGrid>
                <a:gridCol w="2252880"/>
                <a:gridCol w="2252880"/>
                <a:gridCol w="2252880"/>
                <a:gridCol w="2252880"/>
                <a:gridCol w="2345038"/>
              </a:tblGrid>
              <a:tr h="1536829">
                <a:tc>
                  <a:txBody>
                    <a:bodyPr anchor="t" rtlCol="false"/>
                    <a:lstStyle/>
                    <a:p>
                      <a:pPr algn="ctr">
                        <a:lnSpc>
                          <a:spcPts val="4200"/>
                        </a:lnSpc>
                        <a:defRPr/>
                      </a:pPr>
                      <a:r>
                        <a:rPr lang="en-US" sz="3000">
                          <a:solidFill>
                            <a:srgbClr val="000000"/>
                          </a:solidFill>
                          <a:latin typeface="IBM Plex Sans"/>
                          <a:ea typeface="IBM Plex Sans"/>
                          <a:cs typeface="IBM Plex Sans"/>
                          <a:sym typeface="IBM Plex Sans"/>
                        </a:rPr>
                        <a:t>Model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IBM Plex Sans"/>
                          <a:ea typeface="IBM Plex Sans"/>
                          <a:cs typeface="IBM Plex Sans"/>
                          <a:sym typeface="IBM Plex Sans"/>
                        </a:rPr>
                        <a:t>Accuracy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IBM Plex Sans"/>
                          <a:ea typeface="IBM Plex Sans"/>
                          <a:cs typeface="IBM Plex Sans"/>
                          <a:sym typeface="IBM Plex Sans"/>
                        </a:rPr>
                        <a:t>F1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IBM Plex Sans"/>
                          <a:ea typeface="IBM Plex Sans"/>
                          <a:cs typeface="IBM Plex Sans"/>
                          <a:sym typeface="IBM Plex Sans"/>
                        </a:rPr>
                        <a:t>Recall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IBM Plex Sans"/>
                          <a:ea typeface="IBM Plex Sans"/>
                          <a:cs typeface="IBM Plex Sans"/>
                          <a:sym typeface="IBM Plex Sans"/>
                        </a:rPr>
                        <a:t>Precision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584585">
                <a:tc>
                  <a:txBody>
                    <a:bodyPr anchor="t" rtlCol="false"/>
                    <a:lstStyle/>
                    <a:p>
                      <a:pPr algn="ctr">
                        <a:lnSpc>
                          <a:spcPts val="4200"/>
                        </a:lnSpc>
                        <a:defRPr/>
                      </a:pPr>
                      <a:r>
                        <a:rPr lang="en-US" sz="3000">
                          <a:solidFill>
                            <a:srgbClr val="000000"/>
                          </a:solidFill>
                          <a:latin typeface="IBM Plex Sans"/>
                          <a:ea typeface="IBM Plex Sans"/>
                          <a:cs typeface="IBM Plex Sans"/>
                          <a:sym typeface="IBM Plex Sans"/>
                        </a:rPr>
                        <a:t>Random</a:t>
                      </a:r>
                      <a:endParaRPr lang="en-US" sz="1100"/>
                    </a:p>
                    <a:p>
                      <a:pPr algn="ctr">
                        <a:lnSpc>
                          <a:spcPts val="4200"/>
                        </a:lnSpc>
                      </a:pPr>
                      <a:r>
                        <a:rPr lang="en-US" sz="3000">
                          <a:solidFill>
                            <a:srgbClr val="000000"/>
                          </a:solidFill>
                          <a:latin typeface="IBM Plex Sans"/>
                          <a:ea typeface="IBM Plex Sans"/>
                          <a:cs typeface="IBM Plex Sans"/>
                          <a:sym typeface="IBM Plex Sans"/>
                        </a:rPr>
                        <a:t>Forest</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IBM Plex Sans"/>
                          <a:ea typeface="IBM Plex Sans"/>
                          <a:cs typeface="IBM Plex Sans"/>
                          <a:sym typeface="IBM Plex Sans"/>
                        </a:rPr>
                        <a:t>0.84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IBM Plex Sans"/>
                          <a:ea typeface="IBM Plex Sans"/>
                          <a:cs typeface="IBM Plex Sans"/>
                          <a:sym typeface="IBM Plex Sans"/>
                        </a:rPr>
                        <a:t>0.20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IBM Plex Sans"/>
                          <a:ea typeface="IBM Plex Sans"/>
                          <a:cs typeface="IBM Plex Sans"/>
                          <a:sym typeface="IBM Plex Sans"/>
                        </a:rPr>
                        <a:t>0.12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IBM Plex Sans"/>
                          <a:ea typeface="IBM Plex Sans"/>
                          <a:cs typeface="IBM Plex Sans"/>
                          <a:sym typeface="IBM Plex Sans"/>
                        </a:rPr>
                        <a:t>0.54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536829">
                <a:tc>
                  <a:txBody>
                    <a:bodyPr anchor="t" rtlCol="false"/>
                    <a:lstStyle/>
                    <a:p>
                      <a:pPr algn="ctr">
                        <a:lnSpc>
                          <a:spcPts val="4200"/>
                        </a:lnSpc>
                        <a:defRPr/>
                      </a:pPr>
                      <a:r>
                        <a:rPr lang="en-US" sz="3000">
                          <a:solidFill>
                            <a:srgbClr val="000000"/>
                          </a:solidFill>
                          <a:latin typeface="IBM Plex Sans"/>
                          <a:ea typeface="IBM Plex Sans"/>
                          <a:cs typeface="IBM Plex Sans"/>
                          <a:sym typeface="IBM Plex Sans"/>
                        </a:rPr>
                        <a:t>KNN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IBM Plex Sans"/>
                          <a:ea typeface="IBM Plex Sans"/>
                          <a:cs typeface="IBM Plex Sans"/>
                          <a:sym typeface="IBM Plex Sans"/>
                        </a:rPr>
                        <a:t>0.80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IBM Plex Sans"/>
                          <a:ea typeface="IBM Plex Sans"/>
                          <a:cs typeface="IBM Plex Sans"/>
                          <a:sym typeface="IBM Plex Sans"/>
                        </a:rPr>
                        <a:t>0.12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IBM Plex Sans"/>
                          <a:ea typeface="IBM Plex Sans"/>
                          <a:cs typeface="IBM Plex Sans"/>
                          <a:sym typeface="IBM Plex Sans"/>
                        </a:rPr>
                        <a:t>0.08</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a:solidFill>
                            <a:srgbClr val="000000"/>
                          </a:solidFill>
                          <a:latin typeface="IBM Plex Sans"/>
                          <a:ea typeface="IBM Plex Sans"/>
                          <a:cs typeface="IBM Plex Sans"/>
                          <a:sym typeface="IBM Plex Sans"/>
                        </a:rPr>
                        <a:t>0.21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6" id="6"/>
          <p:cNvSpPr txBox="true"/>
          <p:nvPr/>
        </p:nvSpPr>
        <p:spPr>
          <a:xfrm rot="0">
            <a:off x="4068357" y="1209675"/>
            <a:ext cx="10151287" cy="1035051"/>
          </a:xfrm>
          <a:prstGeom prst="rect">
            <a:avLst/>
          </a:prstGeom>
        </p:spPr>
        <p:txBody>
          <a:bodyPr anchor="t" rtlCol="false" tIns="0" lIns="0" bIns="0" rIns="0">
            <a:spAutoFit/>
          </a:bodyPr>
          <a:lstStyle/>
          <a:p>
            <a:pPr algn="l">
              <a:lnSpc>
                <a:spcPts val="7600"/>
              </a:lnSpc>
            </a:pPr>
            <a:r>
              <a:rPr lang="en-US" sz="8000" b="true">
                <a:solidFill>
                  <a:srgbClr val="1B1A17"/>
                </a:solidFill>
                <a:latin typeface="IBM Plex Sans Condensed Bold"/>
                <a:ea typeface="IBM Plex Sans Condensed Bold"/>
                <a:cs typeface="IBM Plex Sans Condensed Bold"/>
                <a:sym typeface="IBM Plex Sans Condensed Bold"/>
              </a:rPr>
              <a:t>5. ĐÁNH GIÁ MÔ HÌNH</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1209675"/>
            <a:ext cx="15113595" cy="1997076"/>
          </a:xfrm>
          <a:prstGeom prst="rect">
            <a:avLst/>
          </a:prstGeom>
        </p:spPr>
        <p:txBody>
          <a:bodyPr anchor="t" rtlCol="false" tIns="0" lIns="0" bIns="0" rIns="0">
            <a:spAutoFit/>
          </a:bodyPr>
          <a:lstStyle/>
          <a:p>
            <a:pPr algn="l">
              <a:lnSpc>
                <a:spcPts val="7600"/>
              </a:lnSpc>
            </a:pPr>
            <a:r>
              <a:rPr lang="en-US" sz="8000" b="true">
                <a:solidFill>
                  <a:srgbClr val="1B1A17"/>
                </a:solidFill>
                <a:latin typeface="IBM Plex Sans Condensed Bold"/>
                <a:ea typeface="IBM Plex Sans Condensed Bold"/>
                <a:cs typeface="IBM Plex Sans Condensed Bold"/>
                <a:sym typeface="IBM Plex Sans Condensed Bold"/>
              </a:rPr>
              <a:t>6. SO SÁNH KNN VÀ RF ĐƯỢC SỬ DỤNG TRONG ĐỀ TÀI</a:t>
            </a:r>
          </a:p>
        </p:txBody>
      </p:sp>
      <p:sp>
        <p:nvSpPr>
          <p:cNvPr name="TextBox 3" id="3"/>
          <p:cNvSpPr txBox="true"/>
          <p:nvPr/>
        </p:nvSpPr>
        <p:spPr>
          <a:xfrm rot="0">
            <a:off x="1748184" y="3459059"/>
            <a:ext cx="5557389" cy="3192780"/>
          </a:xfrm>
          <a:prstGeom prst="rect">
            <a:avLst/>
          </a:prstGeom>
        </p:spPr>
        <p:txBody>
          <a:bodyPr anchor="t" rtlCol="false" tIns="0" lIns="0" bIns="0" rIns="0">
            <a:spAutoFit/>
          </a:bodyPr>
          <a:lstStyle/>
          <a:p>
            <a:pPr algn="ctr">
              <a:lnSpc>
                <a:spcPts val="3660"/>
              </a:lnSpc>
            </a:pPr>
            <a:r>
              <a:rPr lang="en-US" sz="3000" b="true">
                <a:solidFill>
                  <a:srgbClr val="1B1A17"/>
                </a:solidFill>
                <a:latin typeface="IBM Plex Sans Bold"/>
                <a:ea typeface="IBM Plex Sans Bold"/>
                <a:cs typeface="IBM Plex Sans Bold"/>
                <a:sym typeface="IBM Plex Sans Bold"/>
              </a:rPr>
              <a:t>K-Nearest Neighbors</a:t>
            </a:r>
          </a:p>
          <a:p>
            <a:pPr algn="ctr">
              <a:lnSpc>
                <a:spcPts val="3660"/>
              </a:lnSpc>
            </a:pPr>
          </a:p>
          <a:p>
            <a:pPr algn="l">
              <a:lnSpc>
                <a:spcPts val="3660"/>
              </a:lnSpc>
            </a:pPr>
            <a:r>
              <a:rPr lang="en-US" sz="3000">
                <a:solidFill>
                  <a:srgbClr val="1B1A17"/>
                </a:solidFill>
                <a:latin typeface="IBM Plex Sans"/>
                <a:ea typeface="IBM Plex Sans"/>
                <a:cs typeface="IBM Plex Sans"/>
                <a:sym typeface="IBM Plex Sans"/>
              </a:rPr>
              <a:t>Sử dụng mô hình Lazy Learning</a:t>
            </a:r>
          </a:p>
          <a:p>
            <a:pPr algn="l">
              <a:lnSpc>
                <a:spcPts val="3660"/>
              </a:lnSpc>
            </a:pPr>
            <a:r>
              <a:rPr lang="en-US" sz="3000">
                <a:solidFill>
                  <a:srgbClr val="1B1A17"/>
                </a:solidFill>
                <a:latin typeface="IBM Plex Sans"/>
                <a:ea typeface="IBM Plex Sans"/>
                <a:cs typeface="IBM Plex Sans"/>
                <a:sym typeface="IBM Plex Sans"/>
              </a:rPr>
              <a:t>Dự đoán chậm</a:t>
            </a:r>
          </a:p>
          <a:p>
            <a:pPr algn="l">
              <a:lnSpc>
                <a:spcPts val="3660"/>
              </a:lnSpc>
            </a:pPr>
            <a:r>
              <a:rPr lang="en-US" sz="3000">
                <a:solidFill>
                  <a:srgbClr val="1B1A17"/>
                </a:solidFill>
                <a:latin typeface="IBM Plex Sans"/>
                <a:ea typeface="IBM Plex Sans"/>
                <a:cs typeface="IBM Plex Sans"/>
                <a:sym typeface="IBM Plex Sans"/>
              </a:rPr>
              <a:t>Không phù hiệu với dữ liệu lớn</a:t>
            </a:r>
          </a:p>
          <a:p>
            <a:pPr algn="l">
              <a:lnSpc>
                <a:spcPts val="3660"/>
              </a:lnSpc>
            </a:pPr>
            <a:r>
              <a:rPr lang="en-US" sz="3000">
                <a:solidFill>
                  <a:srgbClr val="1B1A17"/>
                </a:solidFill>
                <a:latin typeface="IBM Plex Sans"/>
                <a:ea typeface="IBM Plex Sans"/>
                <a:cs typeface="IBM Plex Sans"/>
                <a:sym typeface="IBM Plex Sans"/>
              </a:rPr>
              <a:t>Nhạy cảm với nhiễu cao</a:t>
            </a:r>
          </a:p>
          <a:p>
            <a:pPr algn="l">
              <a:lnSpc>
                <a:spcPts val="3660"/>
              </a:lnSpc>
            </a:pPr>
            <a:r>
              <a:rPr lang="en-US" sz="3000">
                <a:solidFill>
                  <a:srgbClr val="1B1A17"/>
                </a:solidFill>
                <a:latin typeface="IBM Plex Sans"/>
                <a:ea typeface="IBM Plex Sans"/>
                <a:cs typeface="IBM Plex Sans"/>
                <a:sym typeface="IBM Plex Sans"/>
              </a:rPr>
              <a:t>Độ chính xác: Trung bình - Khá</a:t>
            </a:r>
          </a:p>
        </p:txBody>
      </p:sp>
      <p:sp>
        <p:nvSpPr>
          <p:cNvPr name="Freeform 4" id="4"/>
          <p:cNvSpPr/>
          <p:nvPr/>
        </p:nvSpPr>
        <p:spPr>
          <a:xfrm flipH="false" flipV="true" rot="0">
            <a:off x="9810148" y="5143500"/>
            <a:ext cx="8477852" cy="5657039"/>
          </a:xfrm>
          <a:custGeom>
            <a:avLst/>
            <a:gdLst/>
            <a:ahLst/>
            <a:cxnLst/>
            <a:rect r="r" b="b" t="t" l="l"/>
            <a:pathLst>
              <a:path h="5657039" w="8477852">
                <a:moveTo>
                  <a:pt x="0" y="5657039"/>
                </a:moveTo>
                <a:lnTo>
                  <a:pt x="8477852" y="5657039"/>
                </a:lnTo>
                <a:lnTo>
                  <a:pt x="8477852" y="0"/>
                </a:lnTo>
                <a:lnTo>
                  <a:pt x="0" y="0"/>
                </a:lnTo>
                <a:lnTo>
                  <a:pt x="0" y="565703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0584906" y="3459059"/>
            <a:ext cx="5557389" cy="3192780"/>
          </a:xfrm>
          <a:prstGeom prst="rect">
            <a:avLst/>
          </a:prstGeom>
        </p:spPr>
        <p:txBody>
          <a:bodyPr anchor="t" rtlCol="false" tIns="0" lIns="0" bIns="0" rIns="0">
            <a:spAutoFit/>
          </a:bodyPr>
          <a:lstStyle/>
          <a:p>
            <a:pPr algn="ctr">
              <a:lnSpc>
                <a:spcPts val="3660"/>
              </a:lnSpc>
            </a:pPr>
            <a:r>
              <a:rPr lang="en-US" sz="3000" b="true">
                <a:solidFill>
                  <a:srgbClr val="1B1A17"/>
                </a:solidFill>
                <a:latin typeface="IBM Plex Sans Bold"/>
                <a:ea typeface="IBM Plex Sans Bold"/>
                <a:cs typeface="IBM Plex Sans Bold"/>
                <a:sym typeface="IBM Plex Sans Bold"/>
              </a:rPr>
              <a:t>Random Forest</a:t>
            </a:r>
          </a:p>
          <a:p>
            <a:pPr algn="ctr">
              <a:lnSpc>
                <a:spcPts val="3660"/>
              </a:lnSpc>
            </a:pPr>
          </a:p>
          <a:p>
            <a:pPr algn="l">
              <a:lnSpc>
                <a:spcPts val="3660"/>
              </a:lnSpc>
            </a:pPr>
            <a:r>
              <a:rPr lang="en-US" sz="3000">
                <a:solidFill>
                  <a:srgbClr val="1B1A17"/>
                </a:solidFill>
                <a:latin typeface="IBM Plex Sans"/>
                <a:ea typeface="IBM Plex Sans"/>
                <a:cs typeface="IBM Plex Sans"/>
                <a:sym typeface="IBM Plex Sans"/>
              </a:rPr>
              <a:t>Sử dụng mô hình Ensemble</a:t>
            </a:r>
          </a:p>
          <a:p>
            <a:pPr algn="l">
              <a:lnSpc>
                <a:spcPts val="3660"/>
              </a:lnSpc>
            </a:pPr>
            <a:r>
              <a:rPr lang="en-US" sz="3000">
                <a:solidFill>
                  <a:srgbClr val="1B1A17"/>
                </a:solidFill>
                <a:latin typeface="IBM Plex Sans"/>
                <a:ea typeface="IBM Plex Sans"/>
                <a:cs typeface="IBM Plex Sans"/>
                <a:sym typeface="IBM Plex Sans"/>
              </a:rPr>
              <a:t>Dự đoán nhanh</a:t>
            </a:r>
          </a:p>
          <a:p>
            <a:pPr algn="l">
              <a:lnSpc>
                <a:spcPts val="3660"/>
              </a:lnSpc>
            </a:pPr>
            <a:r>
              <a:rPr lang="en-US" sz="3000">
                <a:solidFill>
                  <a:srgbClr val="1B1A17"/>
                </a:solidFill>
                <a:latin typeface="IBM Plex Sans"/>
                <a:ea typeface="IBM Plex Sans"/>
                <a:cs typeface="IBM Plex Sans"/>
                <a:sym typeface="IBM Plex Sans"/>
              </a:rPr>
              <a:t>Phù hiệu với dữ liệu lớn</a:t>
            </a:r>
          </a:p>
          <a:p>
            <a:pPr algn="l">
              <a:lnSpc>
                <a:spcPts val="3660"/>
              </a:lnSpc>
            </a:pPr>
            <a:r>
              <a:rPr lang="en-US" sz="3000">
                <a:solidFill>
                  <a:srgbClr val="1B1A17"/>
                </a:solidFill>
                <a:latin typeface="IBM Plex Sans"/>
                <a:ea typeface="IBM Plex Sans"/>
                <a:cs typeface="IBM Plex Sans"/>
                <a:sym typeface="IBM Plex Sans"/>
              </a:rPr>
              <a:t>Nhạy cảm với nhiễu thấp</a:t>
            </a:r>
          </a:p>
          <a:p>
            <a:pPr algn="l">
              <a:lnSpc>
                <a:spcPts val="3660"/>
              </a:lnSpc>
            </a:pPr>
            <a:r>
              <a:rPr lang="en-US" sz="3000">
                <a:solidFill>
                  <a:srgbClr val="1B1A17"/>
                </a:solidFill>
                <a:latin typeface="IBM Plex Sans"/>
                <a:ea typeface="IBM Plex Sans"/>
                <a:cs typeface="IBM Plex Sans"/>
                <a:sym typeface="IBM Plex Sans"/>
              </a:rPr>
              <a:t>Độ chính xác: Cao</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742286" y="-903658"/>
            <a:ext cx="6545714" cy="4367776"/>
          </a:xfrm>
          <a:custGeom>
            <a:avLst/>
            <a:gdLst/>
            <a:ahLst/>
            <a:cxnLst/>
            <a:rect r="r" b="b" t="t" l="l"/>
            <a:pathLst>
              <a:path h="4367776" w="6545714">
                <a:moveTo>
                  <a:pt x="0" y="0"/>
                </a:moveTo>
                <a:lnTo>
                  <a:pt x="6545714" y="0"/>
                </a:lnTo>
                <a:lnTo>
                  <a:pt x="6545714" y="4367776"/>
                </a:lnTo>
                <a:lnTo>
                  <a:pt x="0" y="43677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9050" y="6915047"/>
            <a:ext cx="4130454" cy="3371953"/>
          </a:xfrm>
          <a:custGeom>
            <a:avLst/>
            <a:gdLst/>
            <a:ahLst/>
            <a:cxnLst/>
            <a:rect r="r" b="b" t="t" l="l"/>
            <a:pathLst>
              <a:path h="3371953" w="4130454">
                <a:moveTo>
                  <a:pt x="4130454" y="3371953"/>
                </a:moveTo>
                <a:lnTo>
                  <a:pt x="0" y="3371953"/>
                </a:lnTo>
                <a:lnTo>
                  <a:pt x="0" y="0"/>
                </a:lnTo>
                <a:lnTo>
                  <a:pt x="4130454" y="0"/>
                </a:lnTo>
                <a:lnTo>
                  <a:pt x="4130454" y="337195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true" rot="0">
            <a:off x="-19050" y="7276443"/>
            <a:ext cx="3687765" cy="3010557"/>
          </a:xfrm>
          <a:custGeom>
            <a:avLst/>
            <a:gdLst/>
            <a:ahLst/>
            <a:cxnLst/>
            <a:rect r="r" b="b" t="t" l="l"/>
            <a:pathLst>
              <a:path h="3010557" w="3687765">
                <a:moveTo>
                  <a:pt x="3687765" y="3010557"/>
                </a:moveTo>
                <a:lnTo>
                  <a:pt x="0" y="3010557"/>
                </a:lnTo>
                <a:lnTo>
                  <a:pt x="0" y="0"/>
                </a:lnTo>
                <a:lnTo>
                  <a:pt x="3687765" y="0"/>
                </a:lnTo>
                <a:lnTo>
                  <a:pt x="3687765" y="3010557"/>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028700" y="1209675"/>
            <a:ext cx="10441076" cy="1035051"/>
          </a:xfrm>
          <a:prstGeom prst="rect">
            <a:avLst/>
          </a:prstGeom>
        </p:spPr>
        <p:txBody>
          <a:bodyPr anchor="t" rtlCol="false" tIns="0" lIns="0" bIns="0" rIns="0">
            <a:spAutoFit/>
          </a:bodyPr>
          <a:lstStyle/>
          <a:p>
            <a:pPr algn="l">
              <a:lnSpc>
                <a:spcPts val="7600"/>
              </a:lnSpc>
            </a:pPr>
            <a:r>
              <a:rPr lang="en-US" sz="8000" b="true">
                <a:solidFill>
                  <a:srgbClr val="1B1A17"/>
                </a:solidFill>
                <a:latin typeface="IBM Plex Sans Condensed Bold"/>
                <a:ea typeface="IBM Plex Sans Condensed Bold"/>
                <a:cs typeface="IBM Plex Sans Condensed Bold"/>
                <a:sym typeface="IBM Plex Sans Condensed Bold"/>
              </a:rPr>
              <a:t>7. KẾT LUẬN</a:t>
            </a:r>
          </a:p>
        </p:txBody>
      </p:sp>
      <p:sp>
        <p:nvSpPr>
          <p:cNvPr name="TextBox 6" id="6"/>
          <p:cNvSpPr txBox="true"/>
          <p:nvPr/>
        </p:nvSpPr>
        <p:spPr>
          <a:xfrm rot="0">
            <a:off x="979723" y="3021869"/>
            <a:ext cx="16328554" cy="4781550"/>
          </a:xfrm>
          <a:prstGeom prst="rect">
            <a:avLst/>
          </a:prstGeom>
        </p:spPr>
        <p:txBody>
          <a:bodyPr anchor="t" rtlCol="false" tIns="0" lIns="0" bIns="0" rIns="0">
            <a:spAutoFit/>
          </a:bodyPr>
          <a:lstStyle/>
          <a:p>
            <a:pPr algn="l">
              <a:lnSpc>
                <a:spcPts val="4200"/>
              </a:lnSpc>
              <a:spcBef>
                <a:spcPct val="0"/>
              </a:spcBef>
            </a:pPr>
            <a:r>
              <a:rPr lang="en-US" sz="3000">
                <a:solidFill>
                  <a:srgbClr val="1B1A17"/>
                </a:solidFill>
                <a:latin typeface="IBM Plex Sans Condensed"/>
                <a:ea typeface="IBM Plex Sans Condensed"/>
                <a:cs typeface="IBM Plex Sans Condensed"/>
                <a:sym typeface="IBM Plex Sans Condensed"/>
              </a:rPr>
              <a:t>B</a:t>
            </a:r>
            <a:r>
              <a:rPr lang="en-US" sz="3000">
                <a:solidFill>
                  <a:srgbClr val="1B1A17"/>
                </a:solidFill>
                <a:latin typeface="IBM Plex Sans Condensed"/>
                <a:ea typeface="IBM Plex Sans Condensed"/>
                <a:cs typeface="IBM Plex Sans Condensed"/>
                <a:sym typeface="IBM Plex Sans Condensed"/>
              </a:rPr>
              <a:t>ài toán dự đoán nhân viên nghỉ việc (Attrition)</a:t>
            </a:r>
            <a:r>
              <a:rPr lang="en-US" sz="3000">
                <a:solidFill>
                  <a:srgbClr val="1B1A17"/>
                </a:solidFill>
                <a:latin typeface="IBM Plex Sans Condensed"/>
                <a:ea typeface="IBM Plex Sans Condensed"/>
                <a:cs typeface="IBM Plex Sans Condensed"/>
                <a:sym typeface="IBM Plex Sans Condensed"/>
              </a:rPr>
              <a:t> mang tính thực tiễn cao, sát với nhu cầu của doanh nghiệp. Bộ dữ liệu chứa nhiều thuộc tính đa dạng (tuổi, thu nhập, mức độ hài lòng…), phản ánh khá đầy đủ các yếu tố ảnh hưởng đến hành vi nghỉ việc. Dữ liệu được xử lý bài bản: mã hóa biến phân loại, chuẩn hóa dữ liệu số, tách tập train/test rõ ràng.</a:t>
            </a:r>
          </a:p>
          <a:p>
            <a:pPr algn="l">
              <a:lnSpc>
                <a:spcPts val="4200"/>
              </a:lnSpc>
              <a:spcBef>
                <a:spcPct val="0"/>
              </a:spcBef>
            </a:pPr>
          </a:p>
          <a:p>
            <a:pPr algn="l">
              <a:lnSpc>
                <a:spcPts val="4200"/>
              </a:lnSpc>
              <a:spcBef>
                <a:spcPct val="0"/>
              </a:spcBef>
            </a:pPr>
            <a:r>
              <a:rPr lang="en-US" sz="3000">
                <a:solidFill>
                  <a:srgbClr val="1B1A17"/>
                </a:solidFill>
                <a:latin typeface="IBM Plex Sans Condensed"/>
                <a:ea typeface="IBM Plex Sans Condensed"/>
                <a:cs typeface="IBM Plex Sans Condensed"/>
                <a:sym typeface="IBM Plex Sans Condensed"/>
              </a:rPr>
              <a:t>Nhưng bên cạnh đó, về mặt hạn chế, dữ liệu bị mất cân bằng lớp, số nhân viên không nghỉ việc chiếm đa số, khiến mô hình dễ thiên lệch. Một số thuộc tính có giá trị chênh lệch lớn về thang đo, ảnh hưởng đến các mô hình dựa trên khoảng cách như KNN. Chưa có bước lựa chọn đặc trưng (feature selection) để loại bỏ các biến ít quan trọng.</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569366" y="4235450"/>
            <a:ext cx="11149268" cy="1997076"/>
          </a:xfrm>
          <a:prstGeom prst="rect">
            <a:avLst/>
          </a:prstGeom>
        </p:spPr>
        <p:txBody>
          <a:bodyPr anchor="t" rtlCol="false" tIns="0" lIns="0" bIns="0" rIns="0">
            <a:spAutoFit/>
          </a:bodyPr>
          <a:lstStyle/>
          <a:p>
            <a:pPr algn="ctr">
              <a:lnSpc>
                <a:spcPts val="7600"/>
              </a:lnSpc>
            </a:pPr>
            <a:r>
              <a:rPr lang="en-US" b="true" sz="8000">
                <a:solidFill>
                  <a:srgbClr val="1B1A17"/>
                </a:solidFill>
                <a:latin typeface="IBM Plex Sans Condensed Bold"/>
                <a:ea typeface="IBM Plex Sans Condensed Bold"/>
                <a:cs typeface="IBM Plex Sans Condensed Bold"/>
                <a:sym typeface="IBM Plex Sans Condensed Bold"/>
              </a:rPr>
              <a:t>THANK YOU FOR LISTENING!</a:t>
            </a:r>
          </a:p>
        </p:txBody>
      </p:sp>
      <p:sp>
        <p:nvSpPr>
          <p:cNvPr name="Freeform 3" id="3"/>
          <p:cNvSpPr/>
          <p:nvPr/>
        </p:nvSpPr>
        <p:spPr>
          <a:xfrm flipH="false" flipV="false" rot="0">
            <a:off x="11742286" y="-903658"/>
            <a:ext cx="6545714" cy="4367776"/>
          </a:xfrm>
          <a:custGeom>
            <a:avLst/>
            <a:gdLst/>
            <a:ahLst/>
            <a:cxnLst/>
            <a:rect r="r" b="b" t="t" l="l"/>
            <a:pathLst>
              <a:path h="4367776" w="6545714">
                <a:moveTo>
                  <a:pt x="0" y="0"/>
                </a:moveTo>
                <a:lnTo>
                  <a:pt x="6545714" y="0"/>
                </a:lnTo>
                <a:lnTo>
                  <a:pt x="6545714" y="4367776"/>
                </a:lnTo>
                <a:lnTo>
                  <a:pt x="0" y="43677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0" y="-1393518"/>
            <a:ext cx="6545714" cy="4367776"/>
          </a:xfrm>
          <a:custGeom>
            <a:avLst/>
            <a:gdLst/>
            <a:ahLst/>
            <a:cxnLst/>
            <a:rect r="r" b="b" t="t" l="l"/>
            <a:pathLst>
              <a:path h="4367776" w="6545714">
                <a:moveTo>
                  <a:pt x="6545714" y="0"/>
                </a:moveTo>
                <a:lnTo>
                  <a:pt x="0" y="0"/>
                </a:lnTo>
                <a:lnTo>
                  <a:pt x="0" y="4367777"/>
                </a:lnTo>
                <a:lnTo>
                  <a:pt x="6545714" y="4367777"/>
                </a:lnTo>
                <a:lnTo>
                  <a:pt x="654571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DAG6pRH2EU0</dc:identifier>
  <dcterms:modified xsi:type="dcterms:W3CDTF">2011-08-01T06:04:30Z</dcterms:modified>
  <cp:revision>1</cp:revision>
  <dc:title>TranPhamQuangMinh - BTL ML</dc:title>
</cp:coreProperties>
</file>